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C1C1C"/>
                </a:solidFill>
                <a:latin typeface="Calibri"/>
              </a:defRPr>
            </a:pPr>
            <a:r>
              <a:rPr sz="1200" b="0" i="0" u="none" strike="noStrike">
                <a:solidFill>
                  <a:srgbClr val="1C1C1C"/>
                </a:solidFill>
                <a:latin typeface="Calibri"/>
              </a:rPr>
              <a:t>Cumulative net position (KES millions)</a:t>
            </a:r>
          </a:p>
        </c:rich>
      </c:tx>
      <c:layout/>
      <c:overlay val="0"/>
    </c:title>
    <c:autoTitleDeleted val="0"/>
    <c:plotArea>
      <c:layout/>
      <c:lineChart>
        <c:varyColors val="0"/>
        <c:ser>
          <c:idx val="0"/>
          <c:order val="0"/>
          <c:tx>
            <c:strRef>
              <c:f>Sheet1!$B$1</c:f>
              <c:strCache>
                <c:ptCount val="1"/>
                <c:pt idx="0">
                  <c:v>Base case (50% recovered)</c:v>
                </c:pt>
              </c:strCache>
            </c:strRef>
          </c:tx>
          <c:spPr>
            <a:solidFill>
              <a:srgbClr val="90113E"/>
            </a:solidFill>
            <a:ln w="38100" cap="flat">
              <a:solidFill>
                <a:srgbClr val="90113E"/>
              </a:solidFill>
              <a:prstDash val="solid"/>
              <a:round/>
            </a:ln>
            <a:effectLst/>
          </c:spPr>
          <c:invertIfNegative val="0"/>
          <c:dLbls>
            <c:numFmt formatCode="0.0#" sourceLinked="0"/>
            <c:txPr>
              <a:bodyPr/>
              <a:lstStyle/>
              <a:p>
                <a:pPr>
                  <a:defRPr b="0" i="0" strike="noStrike" sz="1000" u="none">
                    <a:solidFill>
                      <a:srgbClr val="1C1C1C"/>
                    </a:solidFill>
                    <a:latin typeface="Arial"/>
                  </a:defRPr>
                </a:pPr>
              </a:p>
            </c:txPr>
            <c:dLblPos val="t"/>
            <c:showLegendKey val="0"/>
            <c:showVal val="1"/>
            <c:showCatName val="0"/>
            <c:showSerName val="0"/>
            <c:showPercent val="0"/>
            <c:showBubbleSize val="0"/>
            <c:showLeaderLines val="0"/>
          </c:dLbls>
          <c:marker>
            <c:symbol val="circle"/>
            <c:size val="8"/>
            <c:spPr>
              <a:solidFill>
                <a:srgbClr val="90113E"/>
              </a:solidFill>
              <a:ln w="9525" cap="flat">
                <a:solidFill>
                  <a:srgbClr val="90113E"/>
                </a:solidFill>
                <a:prstDash val="solid"/>
                <a:round/>
              </a:ln>
              <a:effectLst/>
            </c:spPr>
          </c:marker>
          <c:cat>
            <c:multiLvlStrRef>
              <c:f>Sheet1!$A$2:$A$5</c:f>
              <c:multiLvlStrCache>
                <c:ptCount val="4"/>
                <c:lvl>
                  <c:pt idx="0">
                    <c:v>Start</c:v>
                  </c:pt>
                  <c:pt idx="1">
                    <c:v>Year 1</c:v>
                  </c:pt>
                  <c:pt idx="2">
                    <c:v>Year 2</c:v>
                  </c:pt>
                  <c:pt idx="3">
                    <c:v>Year 3</c:v>
                  </c:pt>
                </c:lvl>
              </c:multiLvlStrCache>
            </c:multiLvlStrRef>
          </c:cat>
          <c:val>
            <c:numRef>
              <c:f>Sheet1!$B$2:$B$5</c:f>
              <c:numCache>
                <c:formatCode>General</c:formatCode>
                <c:ptCount val="4"/>
                <c:pt idx="0">
                  <c:v>-12</c:v>
                </c:pt>
                <c:pt idx="1">
                  <c:v>7</c:v>
                </c:pt>
                <c:pt idx="2">
                  <c:v>26</c:v>
                </c:pt>
                <c:pt idx="3">
                  <c:v>45</c:v>
                </c:pt>
              </c:numCache>
            </c:numRef>
          </c:val>
          <c:smooth val="0"/>
        </c:ser>
        <c:ser>
          <c:idx val="1"/>
          <c:order val="1"/>
          <c:tx>
            <c:strRef>
              <c:f>Sheet1!$C$1</c:f>
              <c:strCache>
                <c:ptCount val="1"/>
                <c:pt idx="0">
                  <c:v>Cautious case (25% recovered)</c:v>
                </c:pt>
              </c:strCache>
            </c:strRef>
          </c:tx>
          <c:spPr>
            <a:solidFill>
              <a:srgbClr val="0BB6BC"/>
            </a:solidFill>
            <a:ln w="38100" cap="flat">
              <a:solidFill>
                <a:srgbClr val="0BB6BC"/>
              </a:solidFill>
              <a:prstDash val="solid"/>
              <a:round/>
            </a:ln>
            <a:effectLst/>
          </c:spPr>
          <c:invertIfNegative val="0"/>
          <c:dLbls>
            <c:numFmt formatCode="0.0#" sourceLinked="0"/>
            <c:txPr>
              <a:bodyPr/>
              <a:lstStyle/>
              <a:p>
                <a:pPr>
                  <a:defRPr b="0" i="0" strike="noStrike" sz="1000" u="none">
                    <a:solidFill>
                      <a:srgbClr val="1C1C1C"/>
                    </a:solidFill>
                    <a:latin typeface="Arial"/>
                  </a:defRPr>
                </a:pPr>
              </a:p>
            </c:txPr>
            <c:dLblPos val="t"/>
            <c:showLegendKey val="0"/>
            <c:showVal val="1"/>
            <c:showCatName val="0"/>
            <c:showSerName val="0"/>
            <c:showPercent val="0"/>
            <c:showBubbleSize val="0"/>
            <c:showLeaderLines val="0"/>
          </c:dLbls>
          <c:marker>
            <c:symbol val="circle"/>
            <c:size val="8"/>
            <c:spPr>
              <a:solidFill>
                <a:srgbClr val="0BB6BC"/>
              </a:solidFill>
              <a:ln w="9525" cap="flat">
                <a:solidFill>
                  <a:srgbClr val="0BB6BC"/>
                </a:solidFill>
                <a:prstDash val="solid"/>
                <a:round/>
              </a:ln>
              <a:effectLst/>
            </c:spPr>
          </c:marker>
          <c:cat>
            <c:multiLvlStrRef>
              <c:f>Sheet1!$A$2:$A$5</c:f>
              <c:multiLvlStrCache>
                <c:ptCount val="4"/>
                <c:lvl>
                  <c:pt idx="0">
                    <c:v>Start</c:v>
                  </c:pt>
                  <c:pt idx="1">
                    <c:v>Year 1</c:v>
                  </c:pt>
                  <c:pt idx="2">
                    <c:v>Year 2</c:v>
                  </c:pt>
                  <c:pt idx="3">
                    <c:v>Year 3</c:v>
                  </c:pt>
                </c:lvl>
              </c:multiLvlStrCache>
            </c:multiLvlStrRef>
          </c:cat>
          <c:val>
            <c:numRef>
              <c:f>Sheet1!$C$2:$C$5</c:f>
              <c:numCache>
                <c:formatCode>General</c:formatCode>
                <c:ptCount val="4"/>
                <c:pt idx="0">
                  <c:v>-12</c:v>
                </c:pt>
                <c:pt idx="1">
                  <c:v>-4.25</c:v>
                </c:pt>
                <c:pt idx="2">
                  <c:v>3.5</c:v>
                </c:pt>
                <c:pt idx="3">
                  <c:v>11.25</c:v>
                </c:pt>
              </c:numCache>
            </c:numRef>
          </c:val>
          <c:smooth val="0"/>
        </c:ser>
        <c:dLbls>
          <c:numFmt formatCode="0.0#" sourceLinked="0"/>
          <c:txPr>
            <a:bodyPr/>
            <a:lstStyle/>
            <a:p>
              <a:pPr>
                <a:defRPr b="0" i="0" strike="noStrike" sz="1000" u="none">
                  <a:solidFill>
                    <a:srgbClr val="1C1C1C"/>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A5A5A"/>
                </a:solidFill>
                <a:latin typeface="Arial"/>
              </a:defRPr>
            </a:pPr>
            <a:endParaRPr lang="en-US"/>
          </a:p>
        </c:txPr>
        <c:crossAx val="2094734552"/>
        <c:crosses val="autoZero"/>
        <c:auto val="1"/>
        <c:lblAlgn val="ctr"/>
        <c:noMultiLvlLbl val="1"/>
      </c:catAx>
      <c:valAx>
        <c:axId val="2094734552"/>
        <c:scaling>
          <c:orientation val="minMax"/>
          <c:max val="60"/>
          <c:min val="-15"/>
        </c:scaling>
        <c:delete val="0"/>
        <c:axPos val="l"/>
        <c:majorGridlines>
          <c:spPr>
            <a:ln w="6350" cap="flat">
              <a:solidFill>
                <a:srgbClr val="E5E5E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5A5A"/>
                </a:solidFill>
                <a:latin typeface="Arial"/>
              </a:defRPr>
            </a:pPr>
            <a:endParaRPr lang="en-US"/>
          </a:p>
        </c:txPr>
        <c:crossAx val="2094734554"/>
        <c:crosses val="autoZero"/>
        <c:crossBetween val="between"/>
        <c:majorUnit val="15"/>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Good morning. I'm Brian Mugambi, lead architect on the KPC Revenue Assurance team. In the next 15 minutes I'll show you where KPC's revenue is leaking, a working system that stops it, what it is worth, and the one decision I'm asking you to make today. Every figure I show is either from our demo data or a labelled assumption, and I will tell you which.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Let me start with the answer. We are asking for KES 12 million to roll this system out. In our base case it returns about KES 19 million a year after running costs, a 375 percent return over three years, and pays back in under eight months. I want to be clear these are planning numbers: they start from an estimated KES 45 million a year of unbilled fees, and I'll show you how we plan to test that. Even in a cautious case where we recover only a quarter of it, the investment still pays back in about 19 months.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Demurrage is the fee a tanker owes when it stays in a depot longer than its contract allows. Today that time is recorded on paper gate passes and separate spreadsheets across five terminals. That costs us twice. First, charges that are legitimately owed never get billed. We estimate about KES 45 million a year, and I want to stress that this is a modelled estimate that Finance has not yet audited. Second, when we do bill, customers dispute hand-made timesheets, so invoices take 45 to 60 days to settle. And because the weighbridge is not linked to billing, auditors get weak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Here is the solution in five steps. The system captures the gate and weighbridge records for each truck. It applies that customer's contracted free time and rates automatically. Every charge is then scored against six compliance rules, and each one is routed: cleanly verified charges are approved automatically, doubtful ones go to a person, and clearly invalid ones are rejected. Approved charges become invoice-ready with a tamper-proof audit trail. Two honest points: it is deterministic, so the same inputs always give the same charge, and in our demo the SAP posting is simulated. A live SAP connection is something we would scope with KPC IT in Phase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This is not a mock-up. The platform is live today, and this is its executive dashboard. On our demo dataset it captured 94.8 percent of charges, settled in 4.2 days against 45 to 60 days, and was 99.98 percent arithmetically accurate. I want to be careful here: that data is seeded demo data, so these numbers show the method works, not what KPC will achieve. That is exactly why our plan starts by testing it against real depot records. If there's time, I can open the live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 Here is the maths. We start from the estimated KES 45 million a year of missed fees. In the base case we recover half, KES 22.5 million, and after KES 3.5 million a year of running costs that is KES 19 million a year. Over three years that is KES 57 million of savings against a KES 12 million investment: a KES 45 million net gain, 375 percent return, payback in 7.6 months. The cautious case recovers only a quarter. Savings drop to KES 7.75 million a year, but the return is still 94 percent and payback is 18.6 months. Notice the lines: even the cautious line crosses zero during year two. What this does not count is faster cash, since invoices settle in days rather than months, and lower audit effort, so the real value should be higher. The KES 12 million and KES 3.5 million are planning assumptions I'd like Finance to replace with real quotes.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Strategically, this project sits in the quick-win corner: high impact because it touches revenue directly, and high feasibility because the platform already exists and runs. On the analytics maturity ladder, we are at descriptive and diagnostic today: the dashboard shows what happened and the compliance checks show why a charge is doubtful. The natural next step is predictive. I have already built and tested a model, on simulated data, that ranks charges by how likely they are to be problematic, so reviewers look at the riskiest first. I would only use it in the pilot once we have real gate history to train on, and only ever as a guide for human reviewers.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The plan is deliberately staged. In the first 60 days Finance and Internal Audit test our KES 45 million estimate against real depot records, and we go live at one depot, Nakuru. Then comes a decision gate: the rest of the money is released only if Finance confirms savings at least as large as our cautious case, KES 7.75 million a year. If they do, months 3 to 6 add Eldoret and Kisumu, connect the KRA cargo-tracking and EPRA regulator feeds, and scope the live SAP link with KPC IT. In months 6 to 12 we bring all 40-plus oil marketing companies on. The timeline is my proposal and depends on getting access to depot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Two risks matter most. First, the savings estimate is not yet proven: KES 45 million is modelled and the demo runs on sample data. The answer is the day-60 test against real records before most of the money is released. Second, depot data and customer acceptance: feeds can be late, and some customers may resist automatic billing. We roll out one depot at a time, every unusual charge goes to a person, and customers see the full record behind each charge, so disputes are settled with evidence. And so that nothing surprises you later, here is what we are not claiming: the demo figures are illustrative, SAP posting is simulated, and the costs are estimates awaiting quotes.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So my recommendation is Go. Approve Phase 2 funding of KES 12 million, released in two steps. Release 1 pays for the Finance-led check of our estimate and the Nakuru start-up. Release 2 follows only if that check confirms at least the cautious-case savings. The alternative is not free: on our estimate, roughly KES 3.75 million of legitimate fees goes unbilled every month we wait. If the estimate is right, the base case returns about KES 19 million a year with payback in around eight months. I'm happy to take questions, and I've prepared backup slides on the questions I would expect on budget, risk and scalability.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Thank you. This was built by a five-person team, and we would welcome your questions. The platform is live at the address on screen. The next two slides are backup for questions on budget, risk and scalability, and the full financial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only. Use these if the Board asks about budget, risk or scalability.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only. Same model as the one-page business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hyperlink" Target="https://demurrage-revenue-platform.vercel.app/" TargetMode="External"/><Relationship Id="rId1" Type="http://schemas.openxmlformats.org/officeDocument/2006/relationships/image" Target="../media/image-5-1.jp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6" Type="http://schemas.openxmlformats.org/officeDocument/2006/relationships/hyperlink" Target="https://demurrage-revenue-platform.vercel.app/" TargetMode="External"/><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90113E"/>
        </a:solidFill>
      </p:bgPr>
    </p:bg>
    <p:spTree>
      <p:nvGrpSpPr>
        <p:cNvPr id="1" name=""/>
        <p:cNvGrpSpPr/>
        <p:nvPr/>
      </p:nvGrpSpPr>
      <p:grpSpPr>
        <a:xfrm>
          <a:off x="0" y="0"/>
          <a:ext cx="0" cy="0"/>
          <a:chOff x="0" y="0"/>
          <a:chExt cx="0" cy="0"/>
        </a:xfrm>
      </p:grpSpPr>
      <p:pic>
        <p:nvPicPr>
          <p:cNvPr id="2" name="Image 0" descr="img/hero.jpg">    </p:cNvPr>
          <p:cNvPicPr>
            <a:picLocks noChangeAspect="1"/>
          </p:cNvPicPr>
          <p:nvPr/>
        </p:nvPicPr>
        <p:blipFill>
          <a:blip r:embed="rId1"/>
          <a:stretch>
            <a:fillRect/>
          </a:stretch>
        </p:blipFill>
        <p:spPr>
          <a:xfrm>
            <a:off x="4937760" y="0"/>
            <a:ext cx="4206240" cy="5143500"/>
          </a:xfrm>
          <a:prstGeom prst="rect">
            <a:avLst/>
          </a:prstGeom>
        </p:spPr>
      </p:pic>
      <p:sp>
        <p:nvSpPr>
          <p:cNvPr id="3" name="Text 0"/>
          <p:cNvSpPr txBox="1"/>
          <p:nvPr/>
        </p:nvSpPr>
        <p:spPr>
          <a:xfrm>
            <a:off x="548640" y="640080"/>
            <a:ext cx="4206240" cy="274320"/>
          </a:xfrm>
          <a:prstGeom prst="rect">
            <a:avLst/>
          </a:prstGeom>
          <a:noFill/>
          <a:ln/>
        </p:spPr>
        <p:txBody>
          <a:bodyPr wrap="square" lIns="0" tIns="0" rIns="0" bIns="0" rtlCol="0" anchor="ctr"/>
          <a:lstStyle/>
          <a:p>
            <a:pPr indent="0" marL="0">
              <a:buNone/>
            </a:pPr>
            <a:r>
              <a:rPr lang="en-US" sz="1100" b="1" spc="200" kern="0" dirty="0">
                <a:solidFill>
                  <a:srgbClr val="F2B8C6"/>
                </a:solidFill>
                <a:latin typeface="Calibri" pitchFamily="34" charset="0"/>
                <a:ea typeface="Calibri" pitchFamily="34" charset="-122"/>
                <a:cs typeface="Calibri" pitchFamily="34" charset="-120"/>
              </a:rPr>
              <a:t>BOARD STRATEGY PITCH  ·  PLP CAPSTONE 2026</a:t>
            </a:r>
            <a:endParaRPr lang="en-US" sz="1100" dirty="0"/>
          </a:p>
        </p:txBody>
      </p:sp>
      <p:sp>
        <p:nvSpPr>
          <p:cNvPr id="4" name="Text 1"/>
          <p:cNvSpPr txBox="1"/>
          <p:nvPr/>
        </p:nvSpPr>
        <p:spPr>
          <a:xfrm>
            <a:off x="548640" y="1143000"/>
            <a:ext cx="4206240" cy="1737360"/>
          </a:xfrm>
          <a:prstGeom prst="rect">
            <a:avLst/>
          </a:prstGeom>
          <a:noFill/>
          <a:ln/>
        </p:spPr>
        <p:txBody>
          <a:bodyPr wrap="square" lIns="0" tIns="0" rIns="0" bIns="0"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Stop losing money on tanker waiting fees</a:t>
            </a:r>
            <a:endParaRPr lang="en-US" sz="3800" dirty="0"/>
          </a:p>
        </p:txBody>
      </p:sp>
      <p:sp>
        <p:nvSpPr>
          <p:cNvPr id="5" name="Text 2"/>
          <p:cNvSpPr txBox="1"/>
          <p:nvPr/>
        </p:nvSpPr>
        <p:spPr>
          <a:xfrm>
            <a:off x="548640" y="3017520"/>
            <a:ext cx="4114800" cy="73152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Automated demurrage billing and revenue assurance for Kenya Pipeline Company</a:t>
            </a:r>
            <a:endParaRPr lang="en-US" sz="1600" dirty="0"/>
          </a:p>
        </p:txBody>
      </p:sp>
      <p:sp>
        <p:nvSpPr>
          <p:cNvPr id="6" name="Text 3"/>
          <p:cNvSpPr txBox="1"/>
          <p:nvPr/>
        </p:nvSpPr>
        <p:spPr>
          <a:xfrm>
            <a:off x="548640" y="4114800"/>
            <a:ext cx="4114800" cy="548640"/>
          </a:xfrm>
          <a:prstGeom prst="rect">
            <a:avLst/>
          </a:prstGeom>
          <a:noFill/>
          <a:ln/>
        </p:spPr>
        <p:txBody>
          <a:bodyPr wrap="square" lIns="0" tIns="0" rIns="0" bIns="0" rtlCol="0" anchor="ctr"/>
          <a:lstStyle/>
          <a:p>
            <a:pPr indent="0" marL="0">
              <a:buNone/>
            </a:pPr>
            <a:r>
              <a:rPr lang="en-US" sz="1300" b="1" dirty="0">
                <a:solidFill>
                  <a:srgbClr val="F2B8C6"/>
                </a:solidFill>
                <a:latin typeface="Calibri" pitchFamily="34" charset="0"/>
                <a:ea typeface="Calibri" pitchFamily="34" charset="-122"/>
                <a:cs typeface="Calibri" pitchFamily="34" charset="-120"/>
              </a:rPr>
              <a:t>Brian Mugambi</a:t>
            </a:r>
            <a:endParaRPr lang="en-US" sz="1300" dirty="0"/>
          </a:p>
          <a:p>
            <a:pPr indent="0" marL="0">
              <a:buNone/>
            </a:pPr>
            <a:r>
              <a:rPr lang="en-US" sz="1300" dirty="0">
                <a:solidFill>
                  <a:srgbClr val="F2B8C6"/>
                </a:solidFill>
                <a:latin typeface="Calibri" pitchFamily="34" charset="0"/>
                <a:ea typeface="Calibri" pitchFamily="34" charset="-122"/>
                <a:cs typeface="Calibri" pitchFamily="34" charset="-120"/>
              </a:rPr>
              <a:t>Lead Architect, KPC Revenue Assurance team</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8229600" cy="731520"/>
          </a:xfrm>
          <a:prstGeom prst="rect">
            <a:avLst/>
          </a:prstGeom>
          <a:noFill/>
          <a:ln/>
        </p:spPr>
        <p:txBody>
          <a:bodyPr wrap="square" lIns="0" tIns="0" rIns="0" bIns="0" rtlCol="0" anchor="t"/>
          <a:lstStyle/>
          <a:p>
            <a:pPr indent="0" marL="0">
              <a:buNone/>
            </a:pPr>
            <a:r>
              <a:rPr lang="en-US" sz="3000" b="1" dirty="0">
                <a:solidFill>
                  <a:srgbClr val="1C1C1C"/>
                </a:solidFill>
                <a:latin typeface="Calibri" pitchFamily="34" charset="0"/>
                <a:ea typeface="Calibri" pitchFamily="34" charset="-122"/>
                <a:cs typeface="Calibri" pitchFamily="34" charset="-120"/>
              </a:rPr>
              <a:t>The ask: approve KES 12M to stop the leak</a:t>
            </a:r>
            <a:endParaRPr lang="en-US" sz="3000" dirty="0"/>
          </a:p>
        </p:txBody>
      </p:sp>
      <p:sp>
        <p:nvSpPr>
          <p:cNvPr id="3" name="Text 1"/>
          <p:cNvSpPr txBox="1"/>
          <p:nvPr/>
        </p:nvSpPr>
        <p:spPr>
          <a:xfrm>
            <a:off x="457200" y="1051560"/>
            <a:ext cx="8229600" cy="320040"/>
          </a:xfrm>
          <a:prstGeom prst="rect">
            <a:avLst/>
          </a:prstGeom>
          <a:noFill/>
          <a:ln/>
        </p:spPr>
        <p:txBody>
          <a:bodyPr wrap="square" lIns="0" tIns="0" rIns="0" bIns="0" rtlCol="0" anchor="ctr"/>
          <a:lstStyle/>
          <a:p>
            <a:pPr indent="0" marL="0">
              <a:buNone/>
            </a:pPr>
            <a:r>
              <a:rPr lang="en-US" sz="1500" dirty="0">
                <a:solidFill>
                  <a:srgbClr val="5A5A5A"/>
                </a:solidFill>
                <a:latin typeface="Calibri" pitchFamily="34" charset="0"/>
                <a:ea typeface="Calibri" pitchFamily="34" charset="-122"/>
                <a:cs typeface="Calibri" pitchFamily="34" charset="-120"/>
              </a:rPr>
              <a:t>Base case: we recover half of an estimated KES 45M a year in unbilled waiting fees.</a:t>
            </a:r>
            <a:endParaRPr lang="en-US" sz="1500" dirty="0"/>
          </a:p>
        </p:txBody>
      </p:sp>
      <p:sp>
        <p:nvSpPr>
          <p:cNvPr id="4" name="Shape 2"/>
          <p:cNvSpPr/>
          <p:nvPr/>
        </p:nvSpPr>
        <p:spPr>
          <a:xfrm>
            <a:off x="457200" y="1600200"/>
            <a:ext cx="2560320" cy="1965960"/>
          </a:xfrm>
          <a:prstGeom prst="roundRect">
            <a:avLst>
              <a:gd name="adj" fmla="val 4651"/>
            </a:avLst>
          </a:prstGeom>
          <a:solidFill>
            <a:srgbClr val="90113E"/>
          </a:solidFill>
          <a:ln w="12700">
            <a:solidFill>
              <a:srgbClr val="90113E"/>
            </a:solidFill>
            <a:prstDash val="solid"/>
          </a:ln>
        </p:spPr>
      </p:sp>
      <p:sp>
        <p:nvSpPr>
          <p:cNvPr id="5" name="Text 3"/>
          <p:cNvSpPr txBox="1"/>
          <p:nvPr/>
        </p:nvSpPr>
        <p:spPr>
          <a:xfrm>
            <a:off x="640080" y="1783080"/>
            <a:ext cx="2194560" cy="77724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KES 19.0M</a:t>
            </a:r>
            <a:endParaRPr lang="en-US" sz="3400" dirty="0"/>
          </a:p>
        </p:txBody>
      </p:sp>
      <p:sp>
        <p:nvSpPr>
          <p:cNvPr id="6" name="Text 4"/>
          <p:cNvSpPr txBox="1"/>
          <p:nvPr/>
        </p:nvSpPr>
        <p:spPr>
          <a:xfrm>
            <a:off x="640080" y="2606040"/>
            <a:ext cx="2194560" cy="3200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net savings a year</a:t>
            </a:r>
            <a:endParaRPr lang="en-US" sz="1600" dirty="0"/>
          </a:p>
        </p:txBody>
      </p:sp>
      <p:sp>
        <p:nvSpPr>
          <p:cNvPr id="7" name="Text 5"/>
          <p:cNvSpPr txBox="1"/>
          <p:nvPr/>
        </p:nvSpPr>
        <p:spPr>
          <a:xfrm>
            <a:off x="640080" y="2971800"/>
            <a:ext cx="2194560" cy="365760"/>
          </a:xfrm>
          <a:prstGeom prst="rect">
            <a:avLst/>
          </a:prstGeom>
          <a:noFill/>
          <a:ln/>
        </p:spPr>
        <p:txBody>
          <a:bodyPr wrap="square" lIns="0" tIns="0" rIns="0" bIns="0" rtlCol="0" anchor="ctr"/>
          <a:lstStyle/>
          <a:p>
            <a:pPr indent="0" marL="0">
              <a:buNone/>
            </a:pPr>
            <a:r>
              <a:rPr lang="en-US" sz="1200" dirty="0">
                <a:solidFill>
                  <a:srgbClr val="F2F2F2"/>
                </a:solidFill>
                <a:latin typeface="Calibri" pitchFamily="34" charset="0"/>
                <a:ea typeface="Calibri" pitchFamily="34" charset="-122"/>
                <a:cs typeface="Calibri" pitchFamily="34" charset="-120"/>
              </a:rPr>
              <a:t>after KES 3.5M running cost*</a:t>
            </a:r>
            <a:endParaRPr lang="en-US" sz="1200" dirty="0"/>
          </a:p>
        </p:txBody>
      </p:sp>
      <p:sp>
        <p:nvSpPr>
          <p:cNvPr id="8" name="Shape 6"/>
          <p:cNvSpPr/>
          <p:nvPr/>
        </p:nvSpPr>
        <p:spPr>
          <a:xfrm>
            <a:off x="3291840" y="1600200"/>
            <a:ext cx="2560320" cy="1965960"/>
          </a:xfrm>
          <a:prstGeom prst="roundRect">
            <a:avLst>
              <a:gd name="adj" fmla="val 4651"/>
            </a:avLst>
          </a:prstGeom>
          <a:solidFill>
            <a:srgbClr val="07777C"/>
          </a:solidFill>
          <a:ln w="12700">
            <a:solidFill>
              <a:srgbClr val="07777C"/>
            </a:solidFill>
            <a:prstDash val="solid"/>
          </a:ln>
        </p:spPr>
      </p:sp>
      <p:sp>
        <p:nvSpPr>
          <p:cNvPr id="9" name="Text 7"/>
          <p:cNvSpPr txBox="1"/>
          <p:nvPr/>
        </p:nvSpPr>
        <p:spPr>
          <a:xfrm>
            <a:off x="3474720" y="1783080"/>
            <a:ext cx="2194560" cy="77724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375%</a:t>
            </a:r>
            <a:endParaRPr lang="en-US" sz="3400" dirty="0"/>
          </a:p>
        </p:txBody>
      </p:sp>
      <p:sp>
        <p:nvSpPr>
          <p:cNvPr id="10" name="Text 8"/>
          <p:cNvSpPr txBox="1"/>
          <p:nvPr/>
        </p:nvSpPr>
        <p:spPr>
          <a:xfrm>
            <a:off x="3474720" y="2606040"/>
            <a:ext cx="2194560" cy="3200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return over 3 years</a:t>
            </a:r>
            <a:endParaRPr lang="en-US" sz="1600" dirty="0"/>
          </a:p>
        </p:txBody>
      </p:sp>
      <p:sp>
        <p:nvSpPr>
          <p:cNvPr id="11" name="Text 9"/>
          <p:cNvSpPr txBox="1"/>
          <p:nvPr/>
        </p:nvSpPr>
        <p:spPr>
          <a:xfrm>
            <a:off x="3474720" y="2971800"/>
            <a:ext cx="2194560" cy="365760"/>
          </a:xfrm>
          <a:prstGeom prst="rect">
            <a:avLst/>
          </a:prstGeom>
          <a:noFill/>
          <a:ln/>
        </p:spPr>
        <p:txBody>
          <a:bodyPr wrap="square" lIns="0" tIns="0" rIns="0" bIns="0" rtlCol="0" anchor="ctr"/>
          <a:lstStyle/>
          <a:p>
            <a:pPr indent="0" marL="0">
              <a:buNone/>
            </a:pPr>
            <a:r>
              <a:rPr lang="en-US" sz="1200" dirty="0">
                <a:solidFill>
                  <a:srgbClr val="F2F2F2"/>
                </a:solidFill>
                <a:latin typeface="Calibri" pitchFamily="34" charset="0"/>
                <a:ea typeface="Calibri" pitchFamily="34" charset="-122"/>
                <a:cs typeface="Calibri" pitchFamily="34" charset="-120"/>
              </a:rPr>
              <a:t>on KES 12M invested*</a:t>
            </a:r>
            <a:endParaRPr lang="en-US" sz="1200" dirty="0"/>
          </a:p>
        </p:txBody>
      </p:sp>
      <p:sp>
        <p:nvSpPr>
          <p:cNvPr id="12" name="Shape 10"/>
          <p:cNvSpPr/>
          <p:nvPr/>
        </p:nvSpPr>
        <p:spPr>
          <a:xfrm>
            <a:off x="6126480" y="1600200"/>
            <a:ext cx="2560320" cy="1965960"/>
          </a:xfrm>
          <a:prstGeom prst="roundRect">
            <a:avLst>
              <a:gd name="adj" fmla="val 4651"/>
            </a:avLst>
          </a:prstGeom>
          <a:solidFill>
            <a:srgbClr val="1C1C1C"/>
          </a:solidFill>
          <a:ln w="12700">
            <a:solidFill>
              <a:srgbClr val="1C1C1C"/>
            </a:solidFill>
            <a:prstDash val="solid"/>
          </a:ln>
        </p:spPr>
      </p:sp>
      <p:sp>
        <p:nvSpPr>
          <p:cNvPr id="13" name="Text 11"/>
          <p:cNvSpPr txBox="1"/>
          <p:nvPr/>
        </p:nvSpPr>
        <p:spPr>
          <a:xfrm>
            <a:off x="6309360" y="1783080"/>
            <a:ext cx="2194560" cy="77724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7.6</a:t>
            </a:r>
            <a:endParaRPr lang="en-US" sz="3400" dirty="0"/>
          </a:p>
        </p:txBody>
      </p:sp>
      <p:sp>
        <p:nvSpPr>
          <p:cNvPr id="14" name="Text 12"/>
          <p:cNvSpPr txBox="1"/>
          <p:nvPr/>
        </p:nvSpPr>
        <p:spPr>
          <a:xfrm>
            <a:off x="6309360" y="2606040"/>
            <a:ext cx="2194560" cy="3200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months to pay back</a:t>
            </a:r>
            <a:endParaRPr lang="en-US" sz="1600" dirty="0"/>
          </a:p>
        </p:txBody>
      </p:sp>
      <p:sp>
        <p:nvSpPr>
          <p:cNvPr id="15" name="Text 13"/>
          <p:cNvSpPr txBox="1"/>
          <p:nvPr/>
        </p:nvSpPr>
        <p:spPr>
          <a:xfrm>
            <a:off x="6309360" y="2971800"/>
            <a:ext cx="2194560" cy="365760"/>
          </a:xfrm>
          <a:prstGeom prst="rect">
            <a:avLst/>
          </a:prstGeom>
          <a:noFill/>
          <a:ln/>
        </p:spPr>
        <p:txBody>
          <a:bodyPr wrap="square" lIns="0" tIns="0" rIns="0" bIns="0" rtlCol="0" anchor="ctr"/>
          <a:lstStyle/>
          <a:p>
            <a:pPr indent="0" marL="0">
              <a:buNone/>
            </a:pPr>
            <a:r>
              <a:rPr lang="en-US" sz="1200" dirty="0">
                <a:solidFill>
                  <a:srgbClr val="F2F2F2"/>
                </a:solidFill>
                <a:latin typeface="Calibri" pitchFamily="34" charset="0"/>
                <a:ea typeface="Calibri" pitchFamily="34" charset="-122"/>
                <a:cs typeface="Calibri" pitchFamily="34" charset="-120"/>
              </a:rPr>
              <a:t>base case*</a:t>
            </a:r>
            <a:endParaRPr lang="en-US" sz="1200" dirty="0"/>
          </a:p>
        </p:txBody>
      </p:sp>
      <p:sp>
        <p:nvSpPr>
          <p:cNvPr id="16" name="Shape 14"/>
          <p:cNvSpPr/>
          <p:nvPr/>
        </p:nvSpPr>
        <p:spPr>
          <a:xfrm>
            <a:off x="457200" y="3794760"/>
            <a:ext cx="8229600" cy="594360"/>
          </a:xfrm>
          <a:prstGeom prst="roundRect">
            <a:avLst>
              <a:gd name="adj" fmla="val 12308"/>
            </a:avLst>
          </a:prstGeom>
          <a:solidFill>
            <a:srgbClr val="FBEFEA"/>
          </a:solidFill>
          <a:ln w="12700">
            <a:solidFill>
              <a:srgbClr val="FBEFEA"/>
            </a:solidFill>
            <a:prstDash val="solid"/>
          </a:ln>
        </p:spPr>
      </p:sp>
      <p:sp>
        <p:nvSpPr>
          <p:cNvPr id="17" name="Shape 15"/>
          <p:cNvSpPr/>
          <p:nvPr/>
        </p:nvSpPr>
        <p:spPr>
          <a:xfrm>
            <a:off x="594360" y="3886200"/>
            <a:ext cx="411480" cy="411480"/>
          </a:xfrm>
          <a:prstGeom prst="ellipse">
            <a:avLst/>
          </a:prstGeom>
          <a:solidFill>
            <a:srgbClr val="07777C"/>
          </a:solidFill>
          <a:ln w="12700">
            <a:solidFill>
              <a:srgbClr val="07777C"/>
            </a:solidFill>
            <a:prstDash val="solid"/>
          </a:ln>
        </p:spPr>
      </p:sp>
      <p:pic>
        <p:nvPicPr>
          <p:cNvPr id="18" name="Image 0" descr="preencoded.png">    </p:cNvPr>
          <p:cNvPicPr>
            <a:picLocks noChangeAspect="1"/>
          </p:cNvPicPr>
          <p:nvPr/>
        </p:nvPicPr>
        <p:blipFill>
          <a:blip r:embed="rId1"/>
          <a:stretch>
            <a:fillRect/>
          </a:stretch>
        </p:blipFill>
        <p:spPr>
          <a:xfrm>
            <a:off x="701345" y="3993185"/>
            <a:ext cx="197510" cy="197510"/>
          </a:xfrm>
          <a:prstGeom prst="rect">
            <a:avLst/>
          </a:prstGeom>
        </p:spPr>
      </p:pic>
      <p:sp>
        <p:nvSpPr>
          <p:cNvPr id="19" name="Text 16"/>
          <p:cNvSpPr txBox="1"/>
          <p:nvPr/>
        </p:nvSpPr>
        <p:spPr>
          <a:xfrm>
            <a:off x="1143000" y="3794760"/>
            <a:ext cx="7406640" cy="594360"/>
          </a:xfrm>
          <a:prstGeom prst="rect">
            <a:avLst/>
          </a:prstGeom>
          <a:noFill/>
          <a:ln/>
        </p:spPr>
        <p:txBody>
          <a:bodyPr wrap="square" lIns="0" tIns="0" rIns="0" bIns="0" rtlCol="0" anchor="ctr"/>
          <a:lstStyle/>
          <a:p>
            <a:pPr indent="0" marL="0">
              <a:buNone/>
            </a:pPr>
            <a:r>
              <a:rPr lang="en-US" sz="1400" b="1" dirty="0">
                <a:solidFill>
                  <a:srgbClr val="1C1C1C"/>
                </a:solidFill>
                <a:latin typeface="Calibri" pitchFamily="34" charset="0"/>
                <a:ea typeface="Calibri" pitchFamily="34" charset="-122"/>
                <a:cs typeface="Calibri" pitchFamily="34" charset="-120"/>
              </a:rPr>
              <a:t>Even if we recover only a quarter, it still pays back in 18.6 months and returns 94% over 3 years.</a:t>
            </a:r>
            <a:endParaRPr lang="en-US" sz="1400" dirty="0"/>
          </a:p>
        </p:txBody>
      </p:sp>
      <p:sp>
        <p:nvSpPr>
          <p:cNvPr id="20" name="Text 17"/>
          <p:cNvSpPr txBox="1"/>
          <p:nvPr/>
        </p:nvSpPr>
        <p:spPr>
          <a:xfrm>
            <a:off x="457200" y="4572000"/>
            <a:ext cx="8229600" cy="228600"/>
          </a:xfrm>
          <a:prstGeom prst="rect">
            <a:avLst/>
          </a:prstGeom>
          <a:noFill/>
          <a:ln/>
        </p:spPr>
        <p:txBody>
          <a:bodyPr wrap="square" lIns="0" tIns="0" rIns="0" bIns="0" rtlCol="0" anchor="ctr"/>
          <a:lstStyle/>
          <a:p>
            <a:pPr indent="0" marL="0">
              <a:buNone/>
            </a:pPr>
            <a:r>
              <a:rPr lang="en-US" sz="1000" dirty="0">
                <a:solidFill>
                  <a:srgbClr val="5A5A5A"/>
                </a:solidFill>
                <a:latin typeface="Calibri" pitchFamily="34" charset="0"/>
                <a:ea typeface="Calibri" pitchFamily="34" charset="-122"/>
                <a:cs typeface="Calibri" pitchFamily="34" charset="-120"/>
              </a:rPr>
              <a:t>*Planning assumptions. The missed-fee estimate is modelled, not audited. Full workings on slide 6 and in the appendix.</a:t>
            </a:r>
            <a:endParaRPr lang="en-US" sz="1000" dirty="0"/>
          </a:p>
        </p:txBody>
      </p:sp>
      <p:sp>
        <p:nvSpPr>
          <p:cNvPr id="21" name="Text 18"/>
          <p:cNvSpPr txBox="1"/>
          <p:nvPr/>
        </p:nvSpPr>
        <p:spPr>
          <a:xfrm>
            <a:off x="457200" y="4828032"/>
            <a:ext cx="5486400" cy="201168"/>
          </a:xfrm>
          <a:prstGeom prst="rect">
            <a:avLst/>
          </a:prstGeom>
          <a:noFill/>
          <a:ln/>
        </p:spPr>
        <p:txBody>
          <a:bodyPr wrap="square" lIns="0" tIns="0" rIns="0" bIns="0" rtlCol="0" anchor="ctr"/>
          <a:lstStyle/>
          <a:p>
            <a:pPr indent="0" marL="0">
              <a:buNone/>
            </a:pPr>
            <a:r>
              <a:rPr lang="en-US" sz="900" dirty="0">
                <a:solidFill>
                  <a:srgbClr val="8C8C8C"/>
                </a:solidFill>
                <a:latin typeface="Calibri" pitchFamily="34" charset="0"/>
                <a:ea typeface="Calibri" pitchFamily="34" charset="-122"/>
                <a:cs typeface="Calibri" pitchFamily="34" charset="-120"/>
              </a:rPr>
              <a:t>KPC Revenue Assurance  |  Board Strategy Pitch</a:t>
            </a:r>
            <a:endParaRPr lang="en-US" sz="900" dirty="0"/>
          </a:p>
        </p:txBody>
      </p:sp>
      <p:sp>
        <p:nvSpPr>
          <p:cNvPr id="22" name="Text 19"/>
          <p:cNvSpPr txBox="1"/>
          <p:nvPr/>
        </p:nvSpPr>
        <p:spPr>
          <a:xfrm>
            <a:off x="8229600" y="4828032"/>
            <a:ext cx="457200" cy="201168"/>
          </a:xfrm>
          <a:prstGeom prst="rect">
            <a:avLst/>
          </a:prstGeom>
          <a:noFill/>
          <a:ln/>
        </p:spPr>
        <p:txBody>
          <a:bodyPr wrap="square" lIns="0" tIns="0" rIns="0" bIns="0" rtlCol="0" anchor="ctr"/>
          <a:lstStyle/>
          <a:p>
            <a:pPr algn="r" indent="0" marL="0">
              <a:buNone/>
            </a:pPr>
            <a:r>
              <a:rPr lang="en-US" sz="900" dirty="0">
                <a:solidFill>
                  <a:srgbClr val="8C8C8C"/>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img/problem.jpg">    </p:cNvPr>
          <p:cNvPicPr>
            <a:picLocks noChangeAspect="1"/>
          </p:cNvPicPr>
          <p:nvPr/>
        </p:nvPicPr>
        <p:blipFill>
          <a:blip r:embed="rId1"/>
          <a:stretch>
            <a:fillRect/>
          </a:stretch>
        </p:blipFill>
        <p:spPr>
          <a:xfrm>
            <a:off x="0" y="0"/>
            <a:ext cx="3566160" cy="5143500"/>
          </a:xfrm>
          <a:prstGeom prst="rect">
            <a:avLst/>
          </a:prstGeom>
        </p:spPr>
      </p:pic>
      <p:sp>
        <p:nvSpPr>
          <p:cNvPr id="3" name="Text 0"/>
          <p:cNvSpPr txBox="1"/>
          <p:nvPr/>
        </p:nvSpPr>
        <p:spPr>
          <a:xfrm>
            <a:off x="4023360" y="411480"/>
            <a:ext cx="4663440" cy="1005840"/>
          </a:xfrm>
          <a:prstGeom prst="rect">
            <a:avLst/>
          </a:prstGeom>
          <a:noFill/>
          <a:ln/>
        </p:spPr>
        <p:txBody>
          <a:bodyPr wrap="square" lIns="0" tIns="0" rIns="0" bIns="0" rtlCol="0" anchor="t"/>
          <a:lstStyle/>
          <a:p>
            <a:pPr indent="0" marL="0">
              <a:buNone/>
            </a:pPr>
            <a:r>
              <a:rPr lang="en-US" sz="3000" b="1" dirty="0">
                <a:solidFill>
                  <a:srgbClr val="1C1C1C"/>
                </a:solidFill>
                <a:latin typeface="Calibri" pitchFamily="34" charset="0"/>
                <a:ea typeface="Calibri" pitchFamily="34" charset="-122"/>
                <a:cs typeface="Calibri" pitchFamily="34" charset="-120"/>
              </a:rPr>
              <a:t>Where KPC's revenue quietly leaks</a:t>
            </a:r>
            <a:endParaRPr lang="en-US" sz="3000" dirty="0"/>
          </a:p>
        </p:txBody>
      </p:sp>
      <p:sp>
        <p:nvSpPr>
          <p:cNvPr id="4" name="Shape 1"/>
          <p:cNvSpPr/>
          <p:nvPr/>
        </p:nvSpPr>
        <p:spPr>
          <a:xfrm>
            <a:off x="4023360" y="1600200"/>
            <a:ext cx="548640" cy="548640"/>
          </a:xfrm>
          <a:prstGeom prst="ellipse">
            <a:avLst/>
          </a:prstGeom>
          <a:solidFill>
            <a:srgbClr val="90113E"/>
          </a:solidFill>
          <a:ln w="12700">
            <a:solidFill>
              <a:srgbClr val="90113E"/>
            </a:solidFill>
            <a:prstDash val="solid"/>
          </a:ln>
        </p:spPr>
      </p:sp>
      <p:pic>
        <p:nvPicPr>
          <p:cNvPr id="5" name="Image 1" descr="preencoded.png">    </p:cNvPr>
          <p:cNvPicPr>
            <a:picLocks noChangeAspect="1"/>
          </p:cNvPicPr>
          <p:nvPr/>
        </p:nvPicPr>
        <p:blipFill>
          <a:blip r:embed="rId2"/>
          <a:stretch>
            <a:fillRect/>
          </a:stretch>
        </p:blipFill>
        <p:spPr>
          <a:xfrm>
            <a:off x="4166006" y="1742846"/>
            <a:ext cx="263347" cy="263347"/>
          </a:xfrm>
          <a:prstGeom prst="rect">
            <a:avLst/>
          </a:prstGeom>
        </p:spPr>
      </p:pic>
      <p:sp>
        <p:nvSpPr>
          <p:cNvPr id="6" name="Text 2"/>
          <p:cNvSpPr txBox="1"/>
          <p:nvPr/>
        </p:nvSpPr>
        <p:spPr>
          <a:xfrm>
            <a:off x="4754880" y="1554480"/>
            <a:ext cx="3931920" cy="320040"/>
          </a:xfrm>
          <a:prstGeom prst="rect">
            <a:avLst/>
          </a:prstGeom>
          <a:noFill/>
          <a:ln/>
        </p:spPr>
        <p:txBody>
          <a:bodyPr wrap="square" lIns="0" tIns="0" rIns="0" bIns="0" rtlCol="0" anchor="ctr"/>
          <a:lstStyle/>
          <a:p>
            <a:pPr indent="0" marL="0">
              <a:buNone/>
            </a:pPr>
            <a:r>
              <a:rPr lang="en-US" sz="1700" b="1" dirty="0">
                <a:solidFill>
                  <a:srgbClr val="90113E"/>
                </a:solidFill>
                <a:latin typeface="Calibri" pitchFamily="34" charset="0"/>
                <a:ea typeface="Calibri" pitchFamily="34" charset="-122"/>
                <a:cs typeface="Calibri" pitchFamily="34" charset="-120"/>
              </a:rPr>
              <a:t>About KES 45M a year goes unbilled*</a:t>
            </a:r>
            <a:endParaRPr lang="en-US" sz="1700" dirty="0"/>
          </a:p>
        </p:txBody>
      </p:sp>
      <p:sp>
        <p:nvSpPr>
          <p:cNvPr id="7" name="Text 3"/>
          <p:cNvSpPr txBox="1"/>
          <p:nvPr/>
        </p:nvSpPr>
        <p:spPr>
          <a:xfrm>
            <a:off x="4754880" y="1901952"/>
            <a:ext cx="3931920" cy="548640"/>
          </a:xfrm>
          <a:prstGeom prst="rect">
            <a:avLst/>
          </a:prstGeom>
          <a:noFill/>
          <a:ln/>
        </p:spPr>
        <p:txBody>
          <a:bodyPr wrap="square" lIns="0" tIns="0" rIns="0" bIns="0" rtlCol="0" anchor="t"/>
          <a:lstStyle/>
          <a:p>
            <a:pPr indent="0" marL="0">
              <a:buNone/>
            </a:pPr>
            <a:r>
              <a:rPr lang="en-US" sz="1300" dirty="0">
                <a:solidFill>
                  <a:srgbClr val="1C1C1C"/>
                </a:solidFill>
                <a:latin typeface="Calibri" pitchFamily="34" charset="0"/>
                <a:ea typeface="Calibri" pitchFamily="34" charset="-122"/>
                <a:cs typeface="Calibri" pitchFamily="34" charset="-120"/>
              </a:rPr>
              <a:t>Paper gate passes and separate spreadsheets mean legitimate waiting fees are never charged.</a:t>
            </a:r>
            <a:endParaRPr lang="en-US" sz="1300" dirty="0"/>
          </a:p>
        </p:txBody>
      </p:sp>
      <p:sp>
        <p:nvSpPr>
          <p:cNvPr id="8" name="Shape 4"/>
          <p:cNvSpPr/>
          <p:nvPr/>
        </p:nvSpPr>
        <p:spPr>
          <a:xfrm>
            <a:off x="4023360" y="2587752"/>
            <a:ext cx="548640" cy="548640"/>
          </a:xfrm>
          <a:prstGeom prst="ellipse">
            <a:avLst/>
          </a:prstGeom>
          <a:solidFill>
            <a:srgbClr val="90113E"/>
          </a:solidFill>
          <a:ln w="12700">
            <a:solidFill>
              <a:srgbClr val="90113E"/>
            </a:solidFill>
            <a:prstDash val="solid"/>
          </a:ln>
        </p:spPr>
      </p:sp>
      <p:pic>
        <p:nvPicPr>
          <p:cNvPr id="9" name="Image 2" descr="preencoded.png">    </p:cNvPr>
          <p:cNvPicPr>
            <a:picLocks noChangeAspect="1"/>
          </p:cNvPicPr>
          <p:nvPr/>
        </p:nvPicPr>
        <p:blipFill>
          <a:blip r:embed="rId3"/>
          <a:stretch>
            <a:fillRect/>
          </a:stretch>
        </p:blipFill>
        <p:spPr>
          <a:xfrm>
            <a:off x="4166006" y="2730398"/>
            <a:ext cx="263347" cy="263347"/>
          </a:xfrm>
          <a:prstGeom prst="rect">
            <a:avLst/>
          </a:prstGeom>
        </p:spPr>
      </p:pic>
      <p:sp>
        <p:nvSpPr>
          <p:cNvPr id="10" name="Text 5"/>
          <p:cNvSpPr txBox="1"/>
          <p:nvPr/>
        </p:nvSpPr>
        <p:spPr>
          <a:xfrm>
            <a:off x="4754880" y="2542032"/>
            <a:ext cx="3931920" cy="320040"/>
          </a:xfrm>
          <a:prstGeom prst="rect">
            <a:avLst/>
          </a:prstGeom>
          <a:noFill/>
          <a:ln/>
        </p:spPr>
        <p:txBody>
          <a:bodyPr wrap="square" lIns="0" tIns="0" rIns="0" bIns="0" rtlCol="0" anchor="ctr"/>
          <a:lstStyle/>
          <a:p>
            <a:pPr indent="0" marL="0">
              <a:buNone/>
            </a:pPr>
            <a:r>
              <a:rPr lang="en-US" sz="1700" b="1" dirty="0">
                <a:solidFill>
                  <a:srgbClr val="90113E"/>
                </a:solidFill>
                <a:latin typeface="Calibri" pitchFamily="34" charset="0"/>
                <a:ea typeface="Calibri" pitchFamily="34" charset="-122"/>
                <a:cs typeface="Calibri" pitchFamily="34" charset="-120"/>
              </a:rPr>
              <a:t>45 to 60 days to settle</a:t>
            </a:r>
            <a:endParaRPr lang="en-US" sz="1700" dirty="0"/>
          </a:p>
        </p:txBody>
      </p:sp>
      <p:sp>
        <p:nvSpPr>
          <p:cNvPr id="11" name="Text 6"/>
          <p:cNvSpPr txBox="1"/>
          <p:nvPr/>
        </p:nvSpPr>
        <p:spPr>
          <a:xfrm>
            <a:off x="4754880" y="2889504"/>
            <a:ext cx="3931920" cy="548640"/>
          </a:xfrm>
          <a:prstGeom prst="rect">
            <a:avLst/>
          </a:prstGeom>
          <a:noFill/>
          <a:ln/>
        </p:spPr>
        <p:txBody>
          <a:bodyPr wrap="square" lIns="0" tIns="0" rIns="0" bIns="0" rtlCol="0" anchor="t"/>
          <a:lstStyle/>
          <a:p>
            <a:pPr indent="0" marL="0">
              <a:buNone/>
            </a:pPr>
            <a:r>
              <a:rPr lang="en-US" sz="1300" dirty="0">
                <a:solidFill>
                  <a:srgbClr val="1C1C1C"/>
                </a:solidFill>
                <a:latin typeface="Calibri" pitchFamily="34" charset="0"/>
                <a:ea typeface="Calibri" pitchFamily="34" charset="-122"/>
                <a:cs typeface="Calibri" pitchFamily="34" charset="-120"/>
              </a:rPr>
              <a:t>Customers dispute hand-made timesheets, so invoices drag on for weeks.</a:t>
            </a:r>
            <a:endParaRPr lang="en-US" sz="1300" dirty="0"/>
          </a:p>
        </p:txBody>
      </p:sp>
      <p:sp>
        <p:nvSpPr>
          <p:cNvPr id="12" name="Shape 7"/>
          <p:cNvSpPr/>
          <p:nvPr/>
        </p:nvSpPr>
        <p:spPr>
          <a:xfrm>
            <a:off x="4023360" y="3575304"/>
            <a:ext cx="548640" cy="548640"/>
          </a:xfrm>
          <a:prstGeom prst="ellipse">
            <a:avLst/>
          </a:prstGeom>
          <a:solidFill>
            <a:srgbClr val="90113E"/>
          </a:solidFill>
          <a:ln w="12700">
            <a:solidFill>
              <a:srgbClr val="90113E"/>
            </a:solidFill>
            <a:prstDash val="solid"/>
          </a:ln>
        </p:spPr>
      </p:sp>
      <p:pic>
        <p:nvPicPr>
          <p:cNvPr id="13" name="Image 3" descr="preencoded.png">    </p:cNvPr>
          <p:cNvPicPr>
            <a:picLocks noChangeAspect="1"/>
          </p:cNvPicPr>
          <p:nvPr/>
        </p:nvPicPr>
        <p:blipFill>
          <a:blip r:embed="rId4"/>
          <a:stretch>
            <a:fillRect/>
          </a:stretch>
        </p:blipFill>
        <p:spPr>
          <a:xfrm>
            <a:off x="4166006" y="3717950"/>
            <a:ext cx="263347" cy="263347"/>
          </a:xfrm>
          <a:prstGeom prst="rect">
            <a:avLst/>
          </a:prstGeom>
        </p:spPr>
      </p:pic>
      <p:sp>
        <p:nvSpPr>
          <p:cNvPr id="14" name="Text 8"/>
          <p:cNvSpPr txBox="1"/>
          <p:nvPr/>
        </p:nvSpPr>
        <p:spPr>
          <a:xfrm>
            <a:off x="4754880" y="3529584"/>
            <a:ext cx="3931920" cy="320040"/>
          </a:xfrm>
          <a:prstGeom prst="rect">
            <a:avLst/>
          </a:prstGeom>
          <a:noFill/>
          <a:ln/>
        </p:spPr>
        <p:txBody>
          <a:bodyPr wrap="square" lIns="0" tIns="0" rIns="0" bIns="0" rtlCol="0" anchor="ctr"/>
          <a:lstStyle/>
          <a:p>
            <a:pPr indent="0" marL="0">
              <a:buNone/>
            </a:pPr>
            <a:r>
              <a:rPr lang="en-US" sz="1700" b="1" dirty="0">
                <a:solidFill>
                  <a:srgbClr val="90113E"/>
                </a:solidFill>
                <a:latin typeface="Calibri" pitchFamily="34" charset="0"/>
                <a:ea typeface="Calibri" pitchFamily="34" charset="-122"/>
                <a:cs typeface="Calibri" pitchFamily="34" charset="-120"/>
              </a:rPr>
              <a:t>Scales not linked to billing</a:t>
            </a:r>
            <a:endParaRPr lang="en-US" sz="1700" dirty="0"/>
          </a:p>
        </p:txBody>
      </p:sp>
      <p:sp>
        <p:nvSpPr>
          <p:cNvPr id="15" name="Text 9"/>
          <p:cNvSpPr txBox="1"/>
          <p:nvPr/>
        </p:nvSpPr>
        <p:spPr>
          <a:xfrm>
            <a:off x="4754880" y="3877056"/>
            <a:ext cx="3931920" cy="548640"/>
          </a:xfrm>
          <a:prstGeom prst="rect">
            <a:avLst/>
          </a:prstGeom>
          <a:noFill/>
          <a:ln/>
        </p:spPr>
        <p:txBody>
          <a:bodyPr wrap="square" lIns="0" tIns="0" rIns="0" bIns="0" rtlCol="0" anchor="t"/>
          <a:lstStyle/>
          <a:p>
            <a:pPr indent="0" marL="0">
              <a:buNone/>
            </a:pPr>
            <a:r>
              <a:rPr lang="en-US" sz="1300" dirty="0">
                <a:solidFill>
                  <a:srgbClr val="1C1C1C"/>
                </a:solidFill>
                <a:latin typeface="Calibri" pitchFamily="34" charset="0"/>
                <a:ea typeface="Calibri" pitchFamily="34" charset="-122"/>
                <a:cs typeface="Calibri" pitchFamily="34" charset="-120"/>
              </a:rPr>
              <a:t>Weighbridge data and finance journals are separate, leaving weak evidence for auditors.</a:t>
            </a:r>
            <a:endParaRPr lang="en-US" sz="1300" dirty="0"/>
          </a:p>
        </p:txBody>
      </p:sp>
      <p:sp>
        <p:nvSpPr>
          <p:cNvPr id="16" name="Text 10"/>
          <p:cNvSpPr txBox="1"/>
          <p:nvPr/>
        </p:nvSpPr>
        <p:spPr>
          <a:xfrm>
            <a:off x="4023360" y="4572000"/>
            <a:ext cx="4663440" cy="228600"/>
          </a:xfrm>
          <a:prstGeom prst="rect">
            <a:avLst/>
          </a:prstGeom>
          <a:noFill/>
          <a:ln/>
        </p:spPr>
        <p:txBody>
          <a:bodyPr wrap="square" lIns="0" tIns="0" rIns="0" bIns="0" rtlCol="0" anchor="ctr"/>
          <a:lstStyle/>
          <a:p>
            <a:pPr indent="0" marL="0">
              <a:buNone/>
            </a:pPr>
            <a:r>
              <a:rPr lang="en-US" sz="1000" dirty="0">
                <a:solidFill>
                  <a:srgbClr val="5A5A5A"/>
                </a:solidFill>
                <a:latin typeface="Calibri" pitchFamily="34" charset="0"/>
                <a:ea typeface="Calibri" pitchFamily="34" charset="-122"/>
                <a:cs typeface="Calibri" pitchFamily="34" charset="-120"/>
              </a:rPr>
              <a:t>*Modelled estimate, to be validated against KPC audit data.</a:t>
            </a:r>
            <a:endParaRPr lang="en-US" sz="1000" dirty="0"/>
          </a:p>
        </p:txBody>
      </p:sp>
      <p:sp>
        <p:nvSpPr>
          <p:cNvPr id="17" name="Text 11"/>
          <p:cNvSpPr txBox="1"/>
          <p:nvPr/>
        </p:nvSpPr>
        <p:spPr>
          <a:xfrm>
            <a:off x="457200" y="4828032"/>
            <a:ext cx="5486400" cy="201168"/>
          </a:xfrm>
          <a:prstGeom prst="rect">
            <a:avLst/>
          </a:prstGeom>
          <a:noFill/>
          <a:ln/>
        </p:spPr>
        <p:txBody>
          <a:bodyPr wrap="square" lIns="0" tIns="0" rIns="0" bIns="0" rtlCol="0" anchor="ctr"/>
          <a:lstStyle/>
          <a:p>
            <a:pPr indent="0" marL="0">
              <a:buNone/>
            </a:pPr>
            <a:r>
              <a:rPr lang="en-US" sz="900" dirty="0">
                <a:solidFill>
                  <a:srgbClr val="8C8C8C"/>
                </a:solidFill>
                <a:latin typeface="Calibri" pitchFamily="34" charset="0"/>
                <a:ea typeface="Calibri" pitchFamily="34" charset="-122"/>
                <a:cs typeface="Calibri" pitchFamily="34" charset="-120"/>
              </a:rPr>
              <a:t>KPC Revenue Assurance  |  Board Strategy Pitch</a:t>
            </a:r>
            <a:endParaRPr lang="en-US" sz="900" dirty="0"/>
          </a:p>
        </p:txBody>
      </p:sp>
      <p:sp>
        <p:nvSpPr>
          <p:cNvPr id="18" name="Text 12"/>
          <p:cNvSpPr txBox="1"/>
          <p:nvPr/>
        </p:nvSpPr>
        <p:spPr>
          <a:xfrm>
            <a:off x="8229600" y="4828032"/>
            <a:ext cx="457200" cy="201168"/>
          </a:xfrm>
          <a:prstGeom prst="rect">
            <a:avLst/>
          </a:prstGeom>
          <a:noFill/>
          <a:ln/>
        </p:spPr>
        <p:txBody>
          <a:bodyPr wrap="square" lIns="0" tIns="0" rIns="0" bIns="0" rtlCol="0" anchor="ctr"/>
          <a:lstStyle/>
          <a:p>
            <a:pPr algn="r" indent="0" marL="0">
              <a:buNone/>
            </a:pPr>
            <a:r>
              <a:rPr lang="en-US" sz="900" dirty="0">
                <a:solidFill>
                  <a:srgbClr val="8C8C8C"/>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8229600" cy="731520"/>
          </a:xfrm>
          <a:prstGeom prst="rect">
            <a:avLst/>
          </a:prstGeom>
          <a:noFill/>
          <a:ln/>
        </p:spPr>
        <p:txBody>
          <a:bodyPr wrap="square" lIns="0" tIns="0" rIns="0" bIns="0" rtlCol="0" anchor="t"/>
          <a:lstStyle/>
          <a:p>
            <a:pPr indent="0" marL="0">
              <a:buNone/>
            </a:pPr>
            <a:r>
              <a:rPr lang="en-US" sz="3000" b="1" dirty="0">
                <a:solidFill>
                  <a:srgbClr val="1C1C1C"/>
                </a:solidFill>
                <a:latin typeface="Calibri" pitchFamily="34" charset="0"/>
                <a:ea typeface="Calibri" pitchFamily="34" charset="-122"/>
                <a:cs typeface="Calibri" pitchFamily="34" charset="-120"/>
              </a:rPr>
              <a:t>Dwell time becomes an audited invoice</a:t>
            </a:r>
            <a:endParaRPr lang="en-US" sz="3000" dirty="0"/>
          </a:p>
        </p:txBody>
      </p:sp>
      <p:sp>
        <p:nvSpPr>
          <p:cNvPr id="3" name="Shape 1"/>
          <p:cNvSpPr/>
          <p:nvPr/>
        </p:nvSpPr>
        <p:spPr>
          <a:xfrm>
            <a:off x="457200" y="1371600"/>
            <a:ext cx="1554480" cy="2240280"/>
          </a:xfrm>
          <a:prstGeom prst="roundRect">
            <a:avLst>
              <a:gd name="adj" fmla="val 4706"/>
            </a:avLst>
          </a:prstGeom>
          <a:solidFill>
            <a:srgbClr val="FBEFEA"/>
          </a:solidFill>
          <a:ln w="12700">
            <a:solidFill>
              <a:srgbClr val="FBEFEA"/>
            </a:solidFill>
            <a:prstDash val="solid"/>
          </a:ln>
        </p:spPr>
      </p:sp>
      <p:sp>
        <p:nvSpPr>
          <p:cNvPr id="4" name="Shape 2"/>
          <p:cNvSpPr/>
          <p:nvPr/>
        </p:nvSpPr>
        <p:spPr>
          <a:xfrm>
            <a:off x="960120" y="1536192"/>
            <a:ext cx="548640" cy="548640"/>
          </a:xfrm>
          <a:prstGeom prst="ellipse">
            <a:avLst/>
          </a:prstGeom>
          <a:solidFill>
            <a:srgbClr val="90113E"/>
          </a:solidFill>
          <a:ln w="12700">
            <a:solidFill>
              <a:srgbClr val="90113E"/>
            </a:solidFill>
            <a:prstDash val="solid"/>
          </a:ln>
        </p:spPr>
      </p:sp>
      <p:pic>
        <p:nvPicPr>
          <p:cNvPr id="5" name="Image 0" descr="preencoded.png">    </p:cNvPr>
          <p:cNvPicPr>
            <a:picLocks noChangeAspect="1"/>
          </p:cNvPicPr>
          <p:nvPr/>
        </p:nvPicPr>
        <p:blipFill>
          <a:blip r:embed="rId1"/>
          <a:stretch>
            <a:fillRect/>
          </a:stretch>
        </p:blipFill>
        <p:spPr>
          <a:xfrm>
            <a:off x="1102766" y="1678838"/>
            <a:ext cx="263347" cy="263347"/>
          </a:xfrm>
          <a:prstGeom prst="rect">
            <a:avLst/>
          </a:prstGeom>
        </p:spPr>
      </p:pic>
      <p:sp>
        <p:nvSpPr>
          <p:cNvPr id="6" name="Text 3"/>
          <p:cNvSpPr txBox="1"/>
          <p:nvPr/>
        </p:nvSpPr>
        <p:spPr>
          <a:xfrm>
            <a:off x="548640" y="2194560"/>
            <a:ext cx="1371600" cy="320040"/>
          </a:xfrm>
          <a:prstGeom prst="rect">
            <a:avLst/>
          </a:prstGeom>
          <a:noFill/>
          <a:ln/>
        </p:spPr>
        <p:txBody>
          <a:bodyPr wrap="square" lIns="0" tIns="0" rIns="0" bIns="0" rtlCol="0" anchor="ctr"/>
          <a:lstStyle/>
          <a:p>
            <a:pPr algn="ctr" indent="0" marL="0">
              <a:buNone/>
            </a:pPr>
            <a:r>
              <a:rPr lang="en-US" sz="1500" b="1" dirty="0">
                <a:solidFill>
                  <a:srgbClr val="90113E"/>
                </a:solidFill>
                <a:latin typeface="Calibri" pitchFamily="34" charset="0"/>
                <a:ea typeface="Calibri" pitchFamily="34" charset="-122"/>
                <a:cs typeface="Calibri" pitchFamily="34" charset="-120"/>
              </a:rPr>
              <a:t>1. Capture</a:t>
            </a:r>
            <a:endParaRPr lang="en-US" sz="1500" dirty="0"/>
          </a:p>
        </p:txBody>
      </p:sp>
      <p:sp>
        <p:nvSpPr>
          <p:cNvPr id="7" name="Text 4"/>
          <p:cNvSpPr txBox="1"/>
          <p:nvPr/>
        </p:nvSpPr>
        <p:spPr>
          <a:xfrm>
            <a:off x="566928" y="2560320"/>
            <a:ext cx="1335024" cy="960120"/>
          </a:xfrm>
          <a:prstGeom prst="rect">
            <a:avLst/>
          </a:prstGeom>
          <a:noFill/>
          <a:ln/>
        </p:spPr>
        <p:txBody>
          <a:bodyPr wrap="square" lIns="0" tIns="0" rIns="0" bIns="0" rtlCol="0" anchor="t"/>
          <a:lstStyle/>
          <a:p>
            <a:pPr indent="0" marL="0">
              <a:buNone/>
            </a:pPr>
            <a:r>
              <a:rPr lang="en-US" sz="1200" dirty="0">
                <a:solidFill>
                  <a:srgbClr val="1C1C1C"/>
                </a:solidFill>
                <a:latin typeface="Calibri" pitchFamily="34" charset="0"/>
                <a:ea typeface="Calibri" pitchFamily="34" charset="-122"/>
                <a:cs typeface="Calibri" pitchFamily="34" charset="-120"/>
              </a:rPr>
              <a:t>Gate and weighbridge records for every truck</a:t>
            </a:r>
            <a:endParaRPr lang="en-US" sz="1200" dirty="0"/>
          </a:p>
        </p:txBody>
      </p:sp>
      <p:sp>
        <p:nvSpPr>
          <p:cNvPr id="8" name="Shape 5"/>
          <p:cNvSpPr/>
          <p:nvPr/>
        </p:nvSpPr>
        <p:spPr>
          <a:xfrm>
            <a:off x="2125980" y="1371600"/>
            <a:ext cx="1554480" cy="2240280"/>
          </a:xfrm>
          <a:prstGeom prst="roundRect">
            <a:avLst>
              <a:gd name="adj" fmla="val 4706"/>
            </a:avLst>
          </a:prstGeom>
          <a:solidFill>
            <a:srgbClr val="FBEFEA"/>
          </a:solidFill>
          <a:ln w="12700">
            <a:solidFill>
              <a:srgbClr val="FBEFEA"/>
            </a:solidFill>
            <a:prstDash val="solid"/>
          </a:ln>
        </p:spPr>
      </p:sp>
      <p:sp>
        <p:nvSpPr>
          <p:cNvPr id="9" name="Shape 6"/>
          <p:cNvSpPr/>
          <p:nvPr/>
        </p:nvSpPr>
        <p:spPr>
          <a:xfrm>
            <a:off x="2628900" y="1536192"/>
            <a:ext cx="548640" cy="548640"/>
          </a:xfrm>
          <a:prstGeom prst="ellipse">
            <a:avLst/>
          </a:prstGeom>
          <a:solidFill>
            <a:srgbClr val="90113E"/>
          </a:solidFill>
          <a:ln w="12700">
            <a:solidFill>
              <a:srgbClr val="90113E"/>
            </a:solidFill>
            <a:prstDash val="solid"/>
          </a:ln>
        </p:spPr>
      </p:sp>
      <p:pic>
        <p:nvPicPr>
          <p:cNvPr id="10" name="Image 1" descr="preencoded.png">    </p:cNvPr>
          <p:cNvPicPr>
            <a:picLocks noChangeAspect="1"/>
          </p:cNvPicPr>
          <p:nvPr/>
        </p:nvPicPr>
        <p:blipFill>
          <a:blip r:embed="rId2"/>
          <a:stretch>
            <a:fillRect/>
          </a:stretch>
        </p:blipFill>
        <p:spPr>
          <a:xfrm>
            <a:off x="2771546" y="1678838"/>
            <a:ext cx="263347" cy="263347"/>
          </a:xfrm>
          <a:prstGeom prst="rect">
            <a:avLst/>
          </a:prstGeom>
        </p:spPr>
      </p:pic>
      <p:sp>
        <p:nvSpPr>
          <p:cNvPr id="11" name="Text 7"/>
          <p:cNvSpPr txBox="1"/>
          <p:nvPr/>
        </p:nvSpPr>
        <p:spPr>
          <a:xfrm>
            <a:off x="2217420" y="2194560"/>
            <a:ext cx="1371600" cy="320040"/>
          </a:xfrm>
          <a:prstGeom prst="rect">
            <a:avLst/>
          </a:prstGeom>
          <a:noFill/>
          <a:ln/>
        </p:spPr>
        <p:txBody>
          <a:bodyPr wrap="square" lIns="0" tIns="0" rIns="0" bIns="0" rtlCol="0" anchor="ctr"/>
          <a:lstStyle/>
          <a:p>
            <a:pPr algn="ctr" indent="0" marL="0">
              <a:buNone/>
            </a:pPr>
            <a:r>
              <a:rPr lang="en-US" sz="1500" b="1" dirty="0">
                <a:solidFill>
                  <a:srgbClr val="90113E"/>
                </a:solidFill>
                <a:latin typeface="Calibri" pitchFamily="34" charset="0"/>
                <a:ea typeface="Calibri" pitchFamily="34" charset="-122"/>
                <a:cs typeface="Calibri" pitchFamily="34" charset="-120"/>
              </a:rPr>
              <a:t>2. Apply</a:t>
            </a:r>
            <a:endParaRPr lang="en-US" sz="1500" dirty="0"/>
          </a:p>
        </p:txBody>
      </p:sp>
      <p:sp>
        <p:nvSpPr>
          <p:cNvPr id="12" name="Text 8"/>
          <p:cNvSpPr txBox="1"/>
          <p:nvPr/>
        </p:nvSpPr>
        <p:spPr>
          <a:xfrm>
            <a:off x="2235708" y="2560320"/>
            <a:ext cx="1335024" cy="960120"/>
          </a:xfrm>
          <a:prstGeom prst="rect">
            <a:avLst/>
          </a:prstGeom>
          <a:noFill/>
          <a:ln/>
        </p:spPr>
        <p:txBody>
          <a:bodyPr wrap="square" lIns="0" tIns="0" rIns="0" bIns="0" rtlCol="0" anchor="t"/>
          <a:lstStyle/>
          <a:p>
            <a:pPr indent="0" marL="0">
              <a:buNone/>
            </a:pPr>
            <a:r>
              <a:rPr lang="en-US" sz="1200" dirty="0">
                <a:solidFill>
                  <a:srgbClr val="1C1C1C"/>
                </a:solidFill>
                <a:latin typeface="Calibri" pitchFamily="34" charset="0"/>
                <a:ea typeface="Calibri" pitchFamily="34" charset="-122"/>
                <a:cs typeface="Calibri" pitchFamily="34" charset="-120"/>
              </a:rPr>
              <a:t>Each customer's free time, grace period and rates</a:t>
            </a:r>
            <a:endParaRPr lang="en-US" sz="1200" dirty="0"/>
          </a:p>
        </p:txBody>
      </p:sp>
      <p:sp>
        <p:nvSpPr>
          <p:cNvPr id="13" name="Shape 9"/>
          <p:cNvSpPr/>
          <p:nvPr/>
        </p:nvSpPr>
        <p:spPr>
          <a:xfrm>
            <a:off x="3794760" y="1371600"/>
            <a:ext cx="1554480" cy="2240280"/>
          </a:xfrm>
          <a:prstGeom prst="roundRect">
            <a:avLst>
              <a:gd name="adj" fmla="val 4706"/>
            </a:avLst>
          </a:prstGeom>
          <a:solidFill>
            <a:srgbClr val="FBEFEA"/>
          </a:solidFill>
          <a:ln w="12700">
            <a:solidFill>
              <a:srgbClr val="FBEFEA"/>
            </a:solidFill>
            <a:prstDash val="solid"/>
          </a:ln>
        </p:spPr>
      </p:sp>
      <p:sp>
        <p:nvSpPr>
          <p:cNvPr id="14" name="Shape 10"/>
          <p:cNvSpPr/>
          <p:nvPr/>
        </p:nvSpPr>
        <p:spPr>
          <a:xfrm>
            <a:off x="4297680" y="1536192"/>
            <a:ext cx="548640" cy="548640"/>
          </a:xfrm>
          <a:prstGeom prst="ellipse">
            <a:avLst/>
          </a:prstGeom>
          <a:solidFill>
            <a:srgbClr val="90113E"/>
          </a:solidFill>
          <a:ln w="12700">
            <a:solidFill>
              <a:srgbClr val="90113E"/>
            </a:solidFill>
            <a:prstDash val="solid"/>
          </a:ln>
        </p:spPr>
      </p:sp>
      <p:pic>
        <p:nvPicPr>
          <p:cNvPr id="15" name="Image 2" descr="preencoded.png">    </p:cNvPr>
          <p:cNvPicPr>
            <a:picLocks noChangeAspect="1"/>
          </p:cNvPicPr>
          <p:nvPr/>
        </p:nvPicPr>
        <p:blipFill>
          <a:blip r:embed="rId3"/>
          <a:stretch>
            <a:fillRect/>
          </a:stretch>
        </p:blipFill>
        <p:spPr>
          <a:xfrm>
            <a:off x="4440326" y="1678838"/>
            <a:ext cx="263347" cy="263347"/>
          </a:xfrm>
          <a:prstGeom prst="rect">
            <a:avLst/>
          </a:prstGeom>
        </p:spPr>
      </p:pic>
      <p:sp>
        <p:nvSpPr>
          <p:cNvPr id="16" name="Text 11"/>
          <p:cNvSpPr txBox="1"/>
          <p:nvPr/>
        </p:nvSpPr>
        <p:spPr>
          <a:xfrm>
            <a:off x="3886200" y="2194560"/>
            <a:ext cx="1371600" cy="320040"/>
          </a:xfrm>
          <a:prstGeom prst="rect">
            <a:avLst/>
          </a:prstGeom>
          <a:noFill/>
          <a:ln/>
        </p:spPr>
        <p:txBody>
          <a:bodyPr wrap="square" lIns="0" tIns="0" rIns="0" bIns="0" rtlCol="0" anchor="ctr"/>
          <a:lstStyle/>
          <a:p>
            <a:pPr algn="ctr" indent="0" marL="0">
              <a:buNone/>
            </a:pPr>
            <a:r>
              <a:rPr lang="en-US" sz="1500" b="1" dirty="0">
                <a:solidFill>
                  <a:srgbClr val="90113E"/>
                </a:solidFill>
                <a:latin typeface="Calibri" pitchFamily="34" charset="0"/>
                <a:ea typeface="Calibri" pitchFamily="34" charset="-122"/>
                <a:cs typeface="Calibri" pitchFamily="34" charset="-120"/>
              </a:rPr>
              <a:t>3. Check</a:t>
            </a:r>
            <a:endParaRPr lang="en-US" sz="1500" dirty="0"/>
          </a:p>
        </p:txBody>
      </p:sp>
      <p:sp>
        <p:nvSpPr>
          <p:cNvPr id="17" name="Text 12"/>
          <p:cNvSpPr txBox="1"/>
          <p:nvPr/>
        </p:nvSpPr>
        <p:spPr>
          <a:xfrm>
            <a:off x="3904488" y="2560320"/>
            <a:ext cx="1335024" cy="960120"/>
          </a:xfrm>
          <a:prstGeom prst="rect">
            <a:avLst/>
          </a:prstGeom>
          <a:noFill/>
          <a:ln/>
        </p:spPr>
        <p:txBody>
          <a:bodyPr wrap="square" lIns="0" tIns="0" rIns="0" bIns="0" rtlCol="0" anchor="t"/>
          <a:lstStyle/>
          <a:p>
            <a:pPr indent="0" marL="0">
              <a:buNone/>
            </a:pPr>
            <a:r>
              <a:rPr lang="en-US" sz="1200" dirty="0">
                <a:solidFill>
                  <a:srgbClr val="1C1C1C"/>
                </a:solidFill>
                <a:latin typeface="Calibri" pitchFamily="34" charset="0"/>
                <a:ea typeface="Calibri" pitchFamily="34" charset="-122"/>
                <a:cs typeface="Calibri" pitchFamily="34" charset="-120"/>
              </a:rPr>
              <a:t>Six compliance rules score every charge</a:t>
            </a:r>
            <a:endParaRPr lang="en-US" sz="1200" dirty="0"/>
          </a:p>
        </p:txBody>
      </p:sp>
      <p:sp>
        <p:nvSpPr>
          <p:cNvPr id="18" name="Shape 13"/>
          <p:cNvSpPr/>
          <p:nvPr/>
        </p:nvSpPr>
        <p:spPr>
          <a:xfrm>
            <a:off x="5463540" y="1371600"/>
            <a:ext cx="1554480" cy="2240280"/>
          </a:xfrm>
          <a:prstGeom prst="roundRect">
            <a:avLst>
              <a:gd name="adj" fmla="val 4706"/>
            </a:avLst>
          </a:prstGeom>
          <a:solidFill>
            <a:srgbClr val="FBEFEA"/>
          </a:solidFill>
          <a:ln w="12700">
            <a:solidFill>
              <a:srgbClr val="FBEFEA"/>
            </a:solidFill>
            <a:prstDash val="solid"/>
          </a:ln>
        </p:spPr>
      </p:sp>
      <p:sp>
        <p:nvSpPr>
          <p:cNvPr id="19" name="Shape 14"/>
          <p:cNvSpPr/>
          <p:nvPr/>
        </p:nvSpPr>
        <p:spPr>
          <a:xfrm>
            <a:off x="5966460" y="1536192"/>
            <a:ext cx="548640" cy="548640"/>
          </a:xfrm>
          <a:prstGeom prst="ellipse">
            <a:avLst/>
          </a:prstGeom>
          <a:solidFill>
            <a:srgbClr val="07777C"/>
          </a:solidFill>
          <a:ln w="12700">
            <a:solidFill>
              <a:srgbClr val="07777C"/>
            </a:solidFill>
            <a:prstDash val="solid"/>
          </a:ln>
        </p:spPr>
      </p:sp>
      <p:pic>
        <p:nvPicPr>
          <p:cNvPr id="20" name="Image 3" descr="preencoded.png">    </p:cNvPr>
          <p:cNvPicPr>
            <a:picLocks noChangeAspect="1"/>
          </p:cNvPicPr>
          <p:nvPr/>
        </p:nvPicPr>
        <p:blipFill>
          <a:blip r:embed="rId4"/>
          <a:stretch>
            <a:fillRect/>
          </a:stretch>
        </p:blipFill>
        <p:spPr>
          <a:xfrm>
            <a:off x="6109106" y="1678838"/>
            <a:ext cx="263347" cy="263347"/>
          </a:xfrm>
          <a:prstGeom prst="rect">
            <a:avLst/>
          </a:prstGeom>
        </p:spPr>
      </p:pic>
      <p:sp>
        <p:nvSpPr>
          <p:cNvPr id="21" name="Text 15"/>
          <p:cNvSpPr txBox="1"/>
          <p:nvPr/>
        </p:nvSpPr>
        <p:spPr>
          <a:xfrm>
            <a:off x="5554980" y="2194560"/>
            <a:ext cx="1371600" cy="320040"/>
          </a:xfrm>
          <a:prstGeom prst="rect">
            <a:avLst/>
          </a:prstGeom>
          <a:noFill/>
          <a:ln/>
        </p:spPr>
        <p:txBody>
          <a:bodyPr wrap="square" lIns="0" tIns="0" rIns="0" bIns="0" rtlCol="0" anchor="ctr"/>
          <a:lstStyle/>
          <a:p>
            <a:pPr algn="ctr" indent="0" marL="0">
              <a:buNone/>
            </a:pPr>
            <a:r>
              <a:rPr lang="en-US" sz="1500" b="1" dirty="0">
                <a:solidFill>
                  <a:srgbClr val="90113E"/>
                </a:solidFill>
                <a:latin typeface="Calibri" pitchFamily="34" charset="0"/>
                <a:ea typeface="Calibri" pitchFamily="34" charset="-122"/>
                <a:cs typeface="Calibri" pitchFamily="34" charset="-120"/>
              </a:rPr>
              <a:t>4. Route</a:t>
            </a:r>
            <a:endParaRPr lang="en-US" sz="1500" dirty="0"/>
          </a:p>
        </p:txBody>
      </p:sp>
      <p:sp>
        <p:nvSpPr>
          <p:cNvPr id="22" name="Text 16"/>
          <p:cNvSpPr txBox="1"/>
          <p:nvPr/>
        </p:nvSpPr>
        <p:spPr>
          <a:xfrm>
            <a:off x="5573268" y="2560320"/>
            <a:ext cx="1335024" cy="960120"/>
          </a:xfrm>
          <a:prstGeom prst="rect">
            <a:avLst/>
          </a:prstGeom>
          <a:noFill/>
          <a:ln/>
        </p:spPr>
        <p:txBody>
          <a:bodyPr wrap="square" lIns="0" tIns="0" rIns="0" bIns="0" rtlCol="0" anchor="t"/>
          <a:lstStyle/>
          <a:p>
            <a:pPr indent="0" marL="0">
              <a:buNone/>
            </a:pPr>
            <a:r>
              <a:rPr lang="en-US" sz="1200" dirty="0">
                <a:solidFill>
                  <a:srgbClr val="1C1C1C"/>
                </a:solidFill>
                <a:latin typeface="Calibri" pitchFamily="34" charset="0"/>
                <a:ea typeface="Calibri" pitchFamily="34" charset="-122"/>
                <a:cs typeface="Calibri" pitchFamily="34" charset="-120"/>
              </a:rPr>
              <a:t>Auto-approve, send to a person, or reject</a:t>
            </a:r>
            <a:endParaRPr lang="en-US" sz="1200" dirty="0"/>
          </a:p>
        </p:txBody>
      </p:sp>
      <p:sp>
        <p:nvSpPr>
          <p:cNvPr id="23" name="Shape 17"/>
          <p:cNvSpPr/>
          <p:nvPr/>
        </p:nvSpPr>
        <p:spPr>
          <a:xfrm>
            <a:off x="7132320" y="1371600"/>
            <a:ext cx="1554480" cy="2240280"/>
          </a:xfrm>
          <a:prstGeom prst="roundRect">
            <a:avLst>
              <a:gd name="adj" fmla="val 4706"/>
            </a:avLst>
          </a:prstGeom>
          <a:solidFill>
            <a:srgbClr val="FBEFEA"/>
          </a:solidFill>
          <a:ln w="12700">
            <a:solidFill>
              <a:srgbClr val="FBEFEA"/>
            </a:solidFill>
            <a:prstDash val="solid"/>
          </a:ln>
        </p:spPr>
      </p:sp>
      <p:sp>
        <p:nvSpPr>
          <p:cNvPr id="24" name="Shape 18"/>
          <p:cNvSpPr/>
          <p:nvPr/>
        </p:nvSpPr>
        <p:spPr>
          <a:xfrm>
            <a:off x="7635240" y="1536192"/>
            <a:ext cx="548640" cy="548640"/>
          </a:xfrm>
          <a:prstGeom prst="ellipse">
            <a:avLst/>
          </a:prstGeom>
          <a:solidFill>
            <a:srgbClr val="90113E"/>
          </a:solidFill>
          <a:ln w="12700">
            <a:solidFill>
              <a:srgbClr val="90113E"/>
            </a:solidFill>
            <a:prstDash val="solid"/>
          </a:ln>
        </p:spPr>
      </p:sp>
      <p:pic>
        <p:nvPicPr>
          <p:cNvPr id="25" name="Image 4" descr="preencoded.png">    </p:cNvPr>
          <p:cNvPicPr>
            <a:picLocks noChangeAspect="1"/>
          </p:cNvPicPr>
          <p:nvPr/>
        </p:nvPicPr>
        <p:blipFill>
          <a:blip r:embed="rId5"/>
          <a:stretch>
            <a:fillRect/>
          </a:stretch>
        </p:blipFill>
        <p:spPr>
          <a:xfrm>
            <a:off x="7777886" y="1678838"/>
            <a:ext cx="263347" cy="263347"/>
          </a:xfrm>
          <a:prstGeom prst="rect">
            <a:avLst/>
          </a:prstGeom>
        </p:spPr>
      </p:pic>
      <p:sp>
        <p:nvSpPr>
          <p:cNvPr id="26" name="Text 19"/>
          <p:cNvSpPr txBox="1"/>
          <p:nvPr/>
        </p:nvSpPr>
        <p:spPr>
          <a:xfrm>
            <a:off x="7223760" y="2194560"/>
            <a:ext cx="1371600" cy="320040"/>
          </a:xfrm>
          <a:prstGeom prst="rect">
            <a:avLst/>
          </a:prstGeom>
          <a:noFill/>
          <a:ln/>
        </p:spPr>
        <p:txBody>
          <a:bodyPr wrap="square" lIns="0" tIns="0" rIns="0" bIns="0" rtlCol="0" anchor="ctr"/>
          <a:lstStyle/>
          <a:p>
            <a:pPr algn="ctr" indent="0" marL="0">
              <a:buNone/>
            </a:pPr>
            <a:r>
              <a:rPr lang="en-US" sz="1500" b="1" dirty="0">
                <a:solidFill>
                  <a:srgbClr val="90113E"/>
                </a:solidFill>
                <a:latin typeface="Calibri" pitchFamily="34" charset="0"/>
                <a:ea typeface="Calibri" pitchFamily="34" charset="-122"/>
                <a:cs typeface="Calibri" pitchFamily="34" charset="-120"/>
              </a:rPr>
              <a:t>5. Post</a:t>
            </a:r>
            <a:endParaRPr lang="en-US" sz="1500" dirty="0"/>
          </a:p>
        </p:txBody>
      </p:sp>
      <p:sp>
        <p:nvSpPr>
          <p:cNvPr id="27" name="Text 20"/>
          <p:cNvSpPr txBox="1"/>
          <p:nvPr/>
        </p:nvSpPr>
        <p:spPr>
          <a:xfrm>
            <a:off x="7242048" y="2560320"/>
            <a:ext cx="1335024" cy="960120"/>
          </a:xfrm>
          <a:prstGeom prst="rect">
            <a:avLst/>
          </a:prstGeom>
          <a:noFill/>
          <a:ln/>
        </p:spPr>
        <p:txBody>
          <a:bodyPr wrap="square" lIns="0" tIns="0" rIns="0" bIns="0" rtlCol="0" anchor="t"/>
          <a:lstStyle/>
          <a:p>
            <a:pPr indent="0" marL="0">
              <a:buNone/>
            </a:pPr>
            <a:r>
              <a:rPr lang="en-US" sz="1200" dirty="0">
                <a:solidFill>
                  <a:srgbClr val="1C1C1C"/>
                </a:solidFill>
                <a:latin typeface="Calibri" pitchFamily="34" charset="0"/>
                <a:ea typeface="Calibri" pitchFamily="34" charset="-122"/>
                <a:cs typeface="Calibri" pitchFamily="34" charset="-120"/>
              </a:rPr>
              <a:t>SAP-ready invoice with a tamper-proof audit trail</a:t>
            </a:r>
            <a:endParaRPr lang="en-US" sz="1200" dirty="0"/>
          </a:p>
        </p:txBody>
      </p:sp>
      <p:sp>
        <p:nvSpPr>
          <p:cNvPr id="28" name="Shape 21"/>
          <p:cNvSpPr/>
          <p:nvPr/>
        </p:nvSpPr>
        <p:spPr>
          <a:xfrm>
            <a:off x="457200" y="3886200"/>
            <a:ext cx="2651760" cy="594360"/>
          </a:xfrm>
          <a:prstGeom prst="roundRect">
            <a:avLst>
              <a:gd name="adj" fmla="val 15385"/>
            </a:avLst>
          </a:prstGeom>
          <a:solidFill>
            <a:srgbClr val="FFFFFF"/>
          </a:solidFill>
          <a:ln w="12700">
            <a:solidFill>
              <a:srgbClr val="90113E"/>
            </a:solidFill>
            <a:prstDash val="solid"/>
          </a:ln>
        </p:spPr>
      </p:sp>
      <p:sp>
        <p:nvSpPr>
          <p:cNvPr id="29" name="Text 22"/>
          <p:cNvSpPr txBox="1"/>
          <p:nvPr/>
        </p:nvSpPr>
        <p:spPr>
          <a:xfrm>
            <a:off x="566928" y="3886200"/>
            <a:ext cx="2432304" cy="594360"/>
          </a:xfrm>
          <a:prstGeom prst="rect">
            <a:avLst/>
          </a:prstGeom>
          <a:noFill/>
          <a:ln/>
        </p:spPr>
        <p:txBody>
          <a:bodyPr wrap="square" lIns="0" tIns="0" rIns="0" bIns="0" rtlCol="0" anchor="ctr"/>
          <a:lstStyle/>
          <a:p>
            <a:pPr algn="ctr" indent="0" marL="0">
              <a:buNone/>
            </a:pPr>
            <a:r>
              <a:rPr lang="en-US" sz="1200" dirty="0">
                <a:solidFill>
                  <a:srgbClr val="1C1C1C"/>
                </a:solidFill>
                <a:latin typeface="Calibri" pitchFamily="34" charset="0"/>
                <a:ea typeface="Calibri" pitchFamily="34" charset="-122"/>
                <a:cs typeface="Calibri" pitchFamily="34" charset="-120"/>
              </a:rPr>
              <a:t>Same inputs, same charge, every time</a:t>
            </a:r>
            <a:endParaRPr lang="en-US" sz="1200" dirty="0"/>
          </a:p>
        </p:txBody>
      </p:sp>
      <p:sp>
        <p:nvSpPr>
          <p:cNvPr id="30" name="Shape 23"/>
          <p:cNvSpPr/>
          <p:nvPr/>
        </p:nvSpPr>
        <p:spPr>
          <a:xfrm>
            <a:off x="3246120" y="3886200"/>
            <a:ext cx="2651760" cy="594360"/>
          </a:xfrm>
          <a:prstGeom prst="roundRect">
            <a:avLst>
              <a:gd name="adj" fmla="val 15385"/>
            </a:avLst>
          </a:prstGeom>
          <a:solidFill>
            <a:srgbClr val="FFFFFF"/>
          </a:solidFill>
          <a:ln w="12700">
            <a:solidFill>
              <a:srgbClr val="90113E"/>
            </a:solidFill>
            <a:prstDash val="solid"/>
          </a:ln>
        </p:spPr>
      </p:sp>
      <p:sp>
        <p:nvSpPr>
          <p:cNvPr id="31" name="Text 24"/>
          <p:cNvSpPr txBox="1"/>
          <p:nvPr/>
        </p:nvSpPr>
        <p:spPr>
          <a:xfrm>
            <a:off x="3355848" y="3886200"/>
            <a:ext cx="2432304" cy="594360"/>
          </a:xfrm>
          <a:prstGeom prst="rect">
            <a:avLst/>
          </a:prstGeom>
          <a:noFill/>
          <a:ln/>
        </p:spPr>
        <p:txBody>
          <a:bodyPr wrap="square" lIns="0" tIns="0" rIns="0" bIns="0" rtlCol="0" anchor="ctr"/>
          <a:lstStyle/>
          <a:p>
            <a:pPr algn="ctr" indent="0" marL="0">
              <a:buNone/>
            </a:pPr>
            <a:r>
              <a:rPr lang="en-US" sz="1200" dirty="0">
                <a:solidFill>
                  <a:srgbClr val="1C1C1C"/>
                </a:solidFill>
                <a:latin typeface="Calibri" pitchFamily="34" charset="0"/>
                <a:ea typeface="Calibri" pitchFamily="34" charset="-122"/>
                <a:cs typeface="Calibri" pitchFamily="34" charset="-120"/>
              </a:rPr>
              <a:t>Unusual charges go to a person, never to a guess</a:t>
            </a:r>
            <a:endParaRPr lang="en-US" sz="1200" dirty="0"/>
          </a:p>
        </p:txBody>
      </p:sp>
      <p:sp>
        <p:nvSpPr>
          <p:cNvPr id="32" name="Shape 25"/>
          <p:cNvSpPr/>
          <p:nvPr/>
        </p:nvSpPr>
        <p:spPr>
          <a:xfrm>
            <a:off x="6035040" y="3886200"/>
            <a:ext cx="2651760" cy="594360"/>
          </a:xfrm>
          <a:prstGeom prst="roundRect">
            <a:avLst>
              <a:gd name="adj" fmla="val 15385"/>
            </a:avLst>
          </a:prstGeom>
          <a:solidFill>
            <a:srgbClr val="FFFFFF"/>
          </a:solidFill>
          <a:ln w="12700">
            <a:solidFill>
              <a:srgbClr val="90113E"/>
            </a:solidFill>
            <a:prstDash val="solid"/>
          </a:ln>
        </p:spPr>
      </p:sp>
      <p:sp>
        <p:nvSpPr>
          <p:cNvPr id="33" name="Text 26"/>
          <p:cNvSpPr txBox="1"/>
          <p:nvPr/>
        </p:nvSpPr>
        <p:spPr>
          <a:xfrm>
            <a:off x="6144768" y="3886200"/>
            <a:ext cx="2432304" cy="594360"/>
          </a:xfrm>
          <a:prstGeom prst="rect">
            <a:avLst/>
          </a:prstGeom>
          <a:noFill/>
          <a:ln/>
        </p:spPr>
        <p:txBody>
          <a:bodyPr wrap="square" lIns="0" tIns="0" rIns="0" bIns="0" rtlCol="0" anchor="ctr"/>
          <a:lstStyle/>
          <a:p>
            <a:pPr algn="ctr" indent="0" marL="0">
              <a:buNone/>
            </a:pPr>
            <a:r>
              <a:rPr lang="en-US" sz="1200" dirty="0">
                <a:solidFill>
                  <a:srgbClr val="1C1C1C"/>
                </a:solidFill>
                <a:latin typeface="Calibri" pitchFamily="34" charset="0"/>
                <a:ea typeface="Calibri" pitchFamily="34" charset="-122"/>
                <a:cs typeface="Calibri" pitchFamily="34" charset="-120"/>
              </a:rPr>
              <a:t>Demo simulates the SAP push; live link is scoped in Phase 2</a:t>
            </a:r>
            <a:endParaRPr lang="en-US" sz="1200" dirty="0"/>
          </a:p>
        </p:txBody>
      </p:sp>
      <p:sp>
        <p:nvSpPr>
          <p:cNvPr id="34" name="Text 27"/>
          <p:cNvSpPr txBox="1"/>
          <p:nvPr/>
        </p:nvSpPr>
        <p:spPr>
          <a:xfrm>
            <a:off x="457200" y="4828032"/>
            <a:ext cx="5486400" cy="201168"/>
          </a:xfrm>
          <a:prstGeom prst="rect">
            <a:avLst/>
          </a:prstGeom>
          <a:noFill/>
          <a:ln/>
        </p:spPr>
        <p:txBody>
          <a:bodyPr wrap="square" lIns="0" tIns="0" rIns="0" bIns="0" rtlCol="0" anchor="ctr"/>
          <a:lstStyle/>
          <a:p>
            <a:pPr indent="0" marL="0">
              <a:buNone/>
            </a:pPr>
            <a:r>
              <a:rPr lang="en-US" sz="900" dirty="0">
                <a:solidFill>
                  <a:srgbClr val="8C8C8C"/>
                </a:solidFill>
                <a:latin typeface="Calibri" pitchFamily="34" charset="0"/>
                <a:ea typeface="Calibri" pitchFamily="34" charset="-122"/>
                <a:cs typeface="Calibri" pitchFamily="34" charset="-120"/>
              </a:rPr>
              <a:t>KPC Revenue Assurance  |  Board Strategy Pitch</a:t>
            </a:r>
            <a:endParaRPr lang="en-US" sz="900" dirty="0"/>
          </a:p>
        </p:txBody>
      </p:sp>
      <p:sp>
        <p:nvSpPr>
          <p:cNvPr id="35" name="Text 28"/>
          <p:cNvSpPr txBox="1"/>
          <p:nvPr/>
        </p:nvSpPr>
        <p:spPr>
          <a:xfrm>
            <a:off x="8229600" y="4828032"/>
            <a:ext cx="457200" cy="201168"/>
          </a:xfrm>
          <a:prstGeom prst="rect">
            <a:avLst/>
          </a:prstGeom>
          <a:noFill/>
          <a:ln/>
        </p:spPr>
        <p:txBody>
          <a:bodyPr wrap="square" lIns="0" tIns="0" rIns="0" bIns="0" rtlCol="0" anchor="ctr"/>
          <a:lstStyle/>
          <a:p>
            <a:pPr algn="r" indent="0" marL="0">
              <a:buNone/>
            </a:pPr>
            <a:r>
              <a:rPr lang="en-US" sz="900" dirty="0">
                <a:solidFill>
                  <a:srgbClr val="8C8C8C"/>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8229600" cy="731520"/>
          </a:xfrm>
          <a:prstGeom prst="rect">
            <a:avLst/>
          </a:prstGeom>
          <a:noFill/>
          <a:ln/>
        </p:spPr>
        <p:txBody>
          <a:bodyPr wrap="square" lIns="0" tIns="0" rIns="0" bIns="0" rtlCol="0" anchor="t"/>
          <a:lstStyle/>
          <a:p>
            <a:pPr indent="0" marL="0">
              <a:buNone/>
            </a:pPr>
            <a:r>
              <a:rPr lang="en-US" sz="3000" b="1" dirty="0">
                <a:solidFill>
                  <a:srgbClr val="1C1C1C"/>
                </a:solidFill>
                <a:latin typeface="Calibri" pitchFamily="34" charset="0"/>
                <a:ea typeface="Calibri" pitchFamily="34" charset="-122"/>
                <a:cs typeface="Calibri" pitchFamily="34" charset="-120"/>
              </a:rPr>
              <a:t>It already works: the platform is live</a:t>
            </a:r>
            <a:endParaRPr lang="en-US" sz="3000" dirty="0"/>
          </a:p>
        </p:txBody>
      </p:sp>
      <p:pic>
        <p:nvPicPr>
          <p:cNvPr id="3" name="Image 0" descr="img/dash.jpg">    </p:cNvPr>
          <p:cNvPicPr>
            <a:picLocks noChangeAspect="1"/>
          </p:cNvPicPr>
          <p:nvPr/>
        </p:nvPicPr>
        <p:blipFill>
          <a:blip r:embed="rId1"/>
          <a:stretch>
            <a:fillRect/>
          </a:stretch>
        </p:blipFill>
        <p:spPr>
          <a:xfrm>
            <a:off x="457200" y="1188720"/>
            <a:ext cx="5120640" cy="2670048"/>
          </a:xfrm>
          <a:prstGeom prst="rect">
            <a:avLst/>
          </a:prstGeom>
        </p:spPr>
      </p:pic>
      <p:sp>
        <p:nvSpPr>
          <p:cNvPr id="4" name="Text 1"/>
          <p:cNvSpPr txBox="1"/>
          <p:nvPr/>
        </p:nvSpPr>
        <p:spPr>
          <a:xfrm>
            <a:off x="457200" y="3931920"/>
            <a:ext cx="5120640" cy="228600"/>
          </a:xfrm>
          <a:prstGeom prst="rect">
            <a:avLst/>
          </a:prstGeom>
          <a:noFill/>
          <a:ln/>
        </p:spPr>
        <p:txBody>
          <a:bodyPr wrap="square" lIns="0" tIns="0" rIns="0" bIns="0" rtlCol="0" anchor="ctr"/>
          <a:lstStyle/>
          <a:p>
            <a:pPr indent="0" marL="0">
              <a:buNone/>
            </a:pPr>
            <a:r>
              <a:rPr lang="en-US" sz="1000" dirty="0">
                <a:solidFill>
                  <a:srgbClr val="5A5A5A"/>
                </a:solidFill>
                <a:latin typeface="Calibri" pitchFamily="34" charset="0"/>
                <a:ea typeface="Calibri" pitchFamily="34" charset="-122"/>
                <a:cs typeface="Calibri" pitchFamily="34" charset="-120"/>
              </a:rPr>
              <a:t>KPC Revenue Assurance dashboard (seeded demo data)</a:t>
            </a:r>
            <a:endParaRPr lang="en-US" sz="1000" dirty="0"/>
          </a:p>
        </p:txBody>
      </p:sp>
      <p:sp>
        <p:nvSpPr>
          <p:cNvPr id="5" name="Text 2">
            <a:hlinkClick r:id="rId2" tooltip=""/>
          </p:cNvPr>
          <p:cNvSpPr txBox="1"/>
          <p:nvPr/>
        </p:nvSpPr>
        <p:spPr>
          <a:xfrm>
            <a:off x="457200" y="4187952"/>
            <a:ext cx="5120640" cy="274320"/>
          </a:xfrm>
          <a:prstGeom prst="rect">
            <a:avLst/>
          </a:prstGeom>
          <a:noFill/>
          <a:ln/>
        </p:spPr>
        <p:txBody>
          <a:bodyPr wrap="square" lIns="0" tIns="0" rIns="0" bIns="0" rtlCol="0" anchor="ctr"/>
          <a:lstStyle/>
          <a:p>
            <a:pPr indent="0" marL="0">
              <a:buNone/>
            </a:pPr>
            <a:r>
              <a:rPr lang="en-US" sz="1300" b="1" u="sng" dirty="0">
                <a:solidFill>
                  <a:srgbClr val="90113E"/>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demurrage-revenue-platform.vercel.app</a:t>
            </a:r>
            <a:endParaRPr lang="en-US" sz="1300" dirty="0"/>
          </a:p>
        </p:txBody>
      </p:sp>
      <p:sp>
        <p:nvSpPr>
          <p:cNvPr id="6" name="Shape 3"/>
          <p:cNvSpPr/>
          <p:nvPr/>
        </p:nvSpPr>
        <p:spPr>
          <a:xfrm>
            <a:off x="5852160" y="1188720"/>
            <a:ext cx="2834640" cy="758952"/>
          </a:xfrm>
          <a:prstGeom prst="roundRect">
            <a:avLst>
              <a:gd name="adj" fmla="val 9639"/>
            </a:avLst>
          </a:prstGeom>
          <a:solidFill>
            <a:srgbClr val="FBEFEA"/>
          </a:solidFill>
          <a:ln w="12700">
            <a:solidFill>
              <a:srgbClr val="FBEFEA"/>
            </a:solidFill>
            <a:prstDash val="solid"/>
          </a:ln>
        </p:spPr>
      </p:sp>
      <p:sp>
        <p:nvSpPr>
          <p:cNvPr id="7" name="Text 4"/>
          <p:cNvSpPr txBox="1"/>
          <p:nvPr/>
        </p:nvSpPr>
        <p:spPr>
          <a:xfrm>
            <a:off x="5989320" y="1188720"/>
            <a:ext cx="1417320" cy="758952"/>
          </a:xfrm>
          <a:prstGeom prst="rect">
            <a:avLst/>
          </a:prstGeom>
          <a:noFill/>
          <a:ln/>
        </p:spPr>
        <p:txBody>
          <a:bodyPr wrap="square" lIns="0" tIns="0" rIns="0" bIns="0" rtlCol="0" anchor="ctr"/>
          <a:lstStyle/>
          <a:p>
            <a:pPr indent="0" marL="0">
              <a:buNone/>
            </a:pPr>
            <a:r>
              <a:rPr lang="en-US" sz="2400" b="1" dirty="0">
                <a:solidFill>
                  <a:srgbClr val="90113E"/>
                </a:solidFill>
                <a:latin typeface="Calibri" pitchFamily="34" charset="0"/>
                <a:ea typeface="Calibri" pitchFamily="34" charset="-122"/>
                <a:cs typeface="Calibri" pitchFamily="34" charset="-120"/>
              </a:rPr>
              <a:t>94.8%</a:t>
            </a:r>
            <a:endParaRPr lang="en-US" sz="2400" dirty="0"/>
          </a:p>
        </p:txBody>
      </p:sp>
      <p:sp>
        <p:nvSpPr>
          <p:cNvPr id="8" name="Text 5"/>
          <p:cNvSpPr txBox="1"/>
          <p:nvPr/>
        </p:nvSpPr>
        <p:spPr>
          <a:xfrm>
            <a:off x="7406640" y="1188720"/>
            <a:ext cx="1188720" cy="758952"/>
          </a:xfrm>
          <a:prstGeom prst="rect">
            <a:avLst/>
          </a:prstGeom>
          <a:noFill/>
          <a:ln/>
        </p:spPr>
        <p:txBody>
          <a:bodyPr wrap="square" lIns="0" tIns="0" rIns="0" bIns="0" rtlCol="0" anchor="ctr"/>
          <a:lstStyle/>
          <a:p>
            <a:pPr indent="0" marL="0">
              <a:buNone/>
            </a:pPr>
            <a:r>
              <a:rPr lang="en-US" sz="1100" dirty="0">
                <a:solidFill>
                  <a:srgbClr val="1C1C1C"/>
                </a:solidFill>
                <a:latin typeface="Calibri" pitchFamily="34" charset="0"/>
                <a:ea typeface="Calibri" pitchFamily="34" charset="-122"/>
                <a:cs typeface="Calibri" pitchFamily="34" charset="-120"/>
              </a:rPr>
              <a:t>of charges captured</a:t>
            </a:r>
            <a:endParaRPr lang="en-US" sz="1100" dirty="0"/>
          </a:p>
        </p:txBody>
      </p:sp>
      <p:sp>
        <p:nvSpPr>
          <p:cNvPr id="9" name="Shape 6"/>
          <p:cNvSpPr/>
          <p:nvPr/>
        </p:nvSpPr>
        <p:spPr>
          <a:xfrm>
            <a:off x="5852160" y="2039112"/>
            <a:ext cx="2834640" cy="758952"/>
          </a:xfrm>
          <a:prstGeom prst="roundRect">
            <a:avLst>
              <a:gd name="adj" fmla="val 9639"/>
            </a:avLst>
          </a:prstGeom>
          <a:solidFill>
            <a:srgbClr val="FBEFEA"/>
          </a:solidFill>
          <a:ln w="12700">
            <a:solidFill>
              <a:srgbClr val="FBEFEA"/>
            </a:solidFill>
            <a:prstDash val="solid"/>
          </a:ln>
        </p:spPr>
      </p:sp>
      <p:sp>
        <p:nvSpPr>
          <p:cNvPr id="10" name="Text 7"/>
          <p:cNvSpPr txBox="1"/>
          <p:nvPr/>
        </p:nvSpPr>
        <p:spPr>
          <a:xfrm>
            <a:off x="5989320" y="2039112"/>
            <a:ext cx="1417320" cy="758952"/>
          </a:xfrm>
          <a:prstGeom prst="rect">
            <a:avLst/>
          </a:prstGeom>
          <a:noFill/>
          <a:ln/>
        </p:spPr>
        <p:txBody>
          <a:bodyPr wrap="square" lIns="0" tIns="0" rIns="0" bIns="0" rtlCol="0" anchor="ctr"/>
          <a:lstStyle/>
          <a:p>
            <a:pPr indent="0" marL="0">
              <a:buNone/>
            </a:pPr>
            <a:r>
              <a:rPr lang="en-US" sz="2400" b="1" dirty="0">
                <a:solidFill>
                  <a:srgbClr val="90113E"/>
                </a:solidFill>
                <a:latin typeface="Calibri" pitchFamily="34" charset="0"/>
                <a:ea typeface="Calibri" pitchFamily="34" charset="-122"/>
                <a:cs typeface="Calibri" pitchFamily="34" charset="-120"/>
              </a:rPr>
              <a:t>4.2 days</a:t>
            </a:r>
            <a:endParaRPr lang="en-US" sz="2400" dirty="0"/>
          </a:p>
        </p:txBody>
      </p:sp>
      <p:sp>
        <p:nvSpPr>
          <p:cNvPr id="11" name="Text 8"/>
          <p:cNvSpPr txBox="1"/>
          <p:nvPr/>
        </p:nvSpPr>
        <p:spPr>
          <a:xfrm>
            <a:off x="7406640" y="2039112"/>
            <a:ext cx="1188720" cy="758952"/>
          </a:xfrm>
          <a:prstGeom prst="rect">
            <a:avLst/>
          </a:prstGeom>
          <a:noFill/>
          <a:ln/>
        </p:spPr>
        <p:txBody>
          <a:bodyPr wrap="square" lIns="0" tIns="0" rIns="0" bIns="0" rtlCol="0" anchor="ctr"/>
          <a:lstStyle/>
          <a:p>
            <a:pPr indent="0" marL="0">
              <a:buNone/>
            </a:pPr>
            <a:r>
              <a:rPr lang="en-US" sz="1100" dirty="0">
                <a:solidFill>
                  <a:srgbClr val="1C1C1C"/>
                </a:solidFill>
                <a:latin typeface="Calibri" pitchFamily="34" charset="0"/>
                <a:ea typeface="Calibri" pitchFamily="34" charset="-122"/>
                <a:cs typeface="Calibri" pitchFamily="34" charset="-120"/>
              </a:rPr>
              <a:t>to settle, vs 45 to 60 days</a:t>
            </a:r>
            <a:endParaRPr lang="en-US" sz="1100" dirty="0"/>
          </a:p>
        </p:txBody>
      </p:sp>
      <p:sp>
        <p:nvSpPr>
          <p:cNvPr id="12" name="Shape 9"/>
          <p:cNvSpPr/>
          <p:nvPr/>
        </p:nvSpPr>
        <p:spPr>
          <a:xfrm>
            <a:off x="5852160" y="2889504"/>
            <a:ext cx="2834640" cy="758952"/>
          </a:xfrm>
          <a:prstGeom prst="roundRect">
            <a:avLst>
              <a:gd name="adj" fmla="val 9639"/>
            </a:avLst>
          </a:prstGeom>
          <a:solidFill>
            <a:srgbClr val="FBEFEA"/>
          </a:solidFill>
          <a:ln w="12700">
            <a:solidFill>
              <a:srgbClr val="FBEFEA"/>
            </a:solidFill>
            <a:prstDash val="solid"/>
          </a:ln>
        </p:spPr>
      </p:sp>
      <p:sp>
        <p:nvSpPr>
          <p:cNvPr id="13" name="Text 10"/>
          <p:cNvSpPr txBox="1"/>
          <p:nvPr/>
        </p:nvSpPr>
        <p:spPr>
          <a:xfrm>
            <a:off x="5989320" y="2889504"/>
            <a:ext cx="1417320" cy="758952"/>
          </a:xfrm>
          <a:prstGeom prst="rect">
            <a:avLst/>
          </a:prstGeom>
          <a:noFill/>
          <a:ln/>
        </p:spPr>
        <p:txBody>
          <a:bodyPr wrap="square" lIns="0" tIns="0" rIns="0" bIns="0" rtlCol="0" anchor="ctr"/>
          <a:lstStyle/>
          <a:p>
            <a:pPr indent="0" marL="0">
              <a:buNone/>
            </a:pPr>
            <a:r>
              <a:rPr lang="en-US" sz="2400" b="1" dirty="0">
                <a:solidFill>
                  <a:srgbClr val="90113E"/>
                </a:solidFill>
                <a:latin typeface="Calibri" pitchFamily="34" charset="0"/>
                <a:ea typeface="Calibri" pitchFamily="34" charset="-122"/>
                <a:cs typeface="Calibri" pitchFamily="34" charset="-120"/>
              </a:rPr>
              <a:t>99.98%</a:t>
            </a:r>
            <a:endParaRPr lang="en-US" sz="2400" dirty="0"/>
          </a:p>
        </p:txBody>
      </p:sp>
      <p:sp>
        <p:nvSpPr>
          <p:cNvPr id="14" name="Text 11"/>
          <p:cNvSpPr txBox="1"/>
          <p:nvPr/>
        </p:nvSpPr>
        <p:spPr>
          <a:xfrm>
            <a:off x="7406640" y="2889504"/>
            <a:ext cx="1188720" cy="758952"/>
          </a:xfrm>
          <a:prstGeom prst="rect">
            <a:avLst/>
          </a:prstGeom>
          <a:noFill/>
          <a:ln/>
        </p:spPr>
        <p:txBody>
          <a:bodyPr wrap="square" lIns="0" tIns="0" rIns="0" bIns="0" rtlCol="0" anchor="ctr"/>
          <a:lstStyle/>
          <a:p>
            <a:pPr indent="0" marL="0">
              <a:buNone/>
            </a:pPr>
            <a:r>
              <a:rPr lang="en-US" sz="1100" dirty="0">
                <a:solidFill>
                  <a:srgbClr val="1C1C1C"/>
                </a:solidFill>
                <a:latin typeface="Calibri" pitchFamily="34" charset="0"/>
                <a:ea typeface="Calibri" pitchFamily="34" charset="-122"/>
                <a:cs typeface="Calibri" pitchFamily="34" charset="-120"/>
              </a:rPr>
              <a:t>arithmetic accuracy</a:t>
            </a:r>
            <a:endParaRPr lang="en-US" sz="1100" dirty="0"/>
          </a:p>
        </p:txBody>
      </p:sp>
      <p:sp>
        <p:nvSpPr>
          <p:cNvPr id="15" name="Shape 12"/>
          <p:cNvSpPr/>
          <p:nvPr/>
        </p:nvSpPr>
        <p:spPr>
          <a:xfrm>
            <a:off x="5852160" y="3739896"/>
            <a:ext cx="2834640" cy="758952"/>
          </a:xfrm>
          <a:prstGeom prst="roundRect">
            <a:avLst>
              <a:gd name="adj" fmla="val 9639"/>
            </a:avLst>
          </a:prstGeom>
          <a:solidFill>
            <a:srgbClr val="FBEFEA"/>
          </a:solidFill>
          <a:ln w="12700">
            <a:solidFill>
              <a:srgbClr val="FBEFEA"/>
            </a:solidFill>
            <a:prstDash val="solid"/>
          </a:ln>
        </p:spPr>
      </p:sp>
      <p:sp>
        <p:nvSpPr>
          <p:cNvPr id="16" name="Text 13"/>
          <p:cNvSpPr txBox="1"/>
          <p:nvPr/>
        </p:nvSpPr>
        <p:spPr>
          <a:xfrm>
            <a:off x="5989320" y="3739896"/>
            <a:ext cx="1417320" cy="758952"/>
          </a:xfrm>
          <a:prstGeom prst="rect">
            <a:avLst/>
          </a:prstGeom>
          <a:noFill/>
          <a:ln/>
        </p:spPr>
        <p:txBody>
          <a:bodyPr wrap="square" lIns="0" tIns="0" rIns="0" bIns="0" rtlCol="0" anchor="ctr"/>
          <a:lstStyle/>
          <a:p>
            <a:pPr indent="0" marL="0">
              <a:buNone/>
            </a:pPr>
            <a:r>
              <a:rPr lang="en-US" sz="2400" b="1" dirty="0">
                <a:solidFill>
                  <a:srgbClr val="90113E"/>
                </a:solidFill>
                <a:latin typeface="Calibri" pitchFamily="34" charset="0"/>
                <a:ea typeface="Calibri" pitchFamily="34" charset="-122"/>
                <a:cs typeface="Calibri" pitchFamily="34" charset="-120"/>
              </a:rPr>
              <a:t>6 rules</a:t>
            </a:r>
            <a:endParaRPr lang="en-US" sz="2400" dirty="0"/>
          </a:p>
        </p:txBody>
      </p:sp>
      <p:sp>
        <p:nvSpPr>
          <p:cNvPr id="17" name="Text 14"/>
          <p:cNvSpPr txBox="1"/>
          <p:nvPr/>
        </p:nvSpPr>
        <p:spPr>
          <a:xfrm>
            <a:off x="7406640" y="3739896"/>
            <a:ext cx="1188720" cy="758952"/>
          </a:xfrm>
          <a:prstGeom prst="rect">
            <a:avLst/>
          </a:prstGeom>
          <a:noFill/>
          <a:ln/>
        </p:spPr>
        <p:txBody>
          <a:bodyPr wrap="square" lIns="0" tIns="0" rIns="0" bIns="0" rtlCol="0" anchor="ctr"/>
          <a:lstStyle/>
          <a:p>
            <a:pPr indent="0" marL="0">
              <a:buNone/>
            </a:pPr>
            <a:r>
              <a:rPr lang="en-US" sz="1100" dirty="0">
                <a:solidFill>
                  <a:srgbClr val="1C1C1C"/>
                </a:solidFill>
                <a:latin typeface="Calibri" pitchFamily="34" charset="0"/>
                <a:ea typeface="Calibri" pitchFamily="34" charset="-122"/>
                <a:cs typeface="Calibri" pitchFamily="34" charset="-120"/>
              </a:rPr>
              <a:t>check every charge</a:t>
            </a:r>
            <a:endParaRPr lang="en-US" sz="1100" dirty="0"/>
          </a:p>
        </p:txBody>
      </p:sp>
      <p:sp>
        <p:nvSpPr>
          <p:cNvPr id="18" name="Text 15"/>
          <p:cNvSpPr txBox="1"/>
          <p:nvPr/>
        </p:nvSpPr>
        <p:spPr>
          <a:xfrm>
            <a:off x="457200" y="4572000"/>
            <a:ext cx="8229600" cy="228600"/>
          </a:xfrm>
          <a:prstGeom prst="rect">
            <a:avLst/>
          </a:prstGeom>
          <a:noFill/>
          <a:ln/>
        </p:spPr>
        <p:txBody>
          <a:bodyPr wrap="square" lIns="0" tIns="0" rIns="0" bIns="0" rtlCol="0" anchor="ctr"/>
          <a:lstStyle/>
          <a:p>
            <a:pPr indent="0" marL="0">
              <a:buNone/>
            </a:pPr>
            <a:r>
              <a:rPr lang="en-US" sz="1000" dirty="0">
                <a:solidFill>
                  <a:srgbClr val="5A5A5A"/>
                </a:solidFill>
                <a:latin typeface="Calibri" pitchFamily="34" charset="0"/>
                <a:ea typeface="Calibri" pitchFamily="34" charset="-122"/>
                <a:cs typeface="Calibri" pitchFamily="34" charset="-120"/>
              </a:rPr>
              <a:t>Demo figures are illustrative, from the platform's seeded dataset. They are not audited financials.</a:t>
            </a:r>
            <a:endParaRPr lang="en-US" sz="1000" dirty="0"/>
          </a:p>
        </p:txBody>
      </p:sp>
      <p:sp>
        <p:nvSpPr>
          <p:cNvPr id="19" name="Text 16"/>
          <p:cNvSpPr txBox="1"/>
          <p:nvPr/>
        </p:nvSpPr>
        <p:spPr>
          <a:xfrm>
            <a:off x="457200" y="4828032"/>
            <a:ext cx="5486400" cy="201168"/>
          </a:xfrm>
          <a:prstGeom prst="rect">
            <a:avLst/>
          </a:prstGeom>
          <a:noFill/>
          <a:ln/>
        </p:spPr>
        <p:txBody>
          <a:bodyPr wrap="square" lIns="0" tIns="0" rIns="0" bIns="0" rtlCol="0" anchor="ctr"/>
          <a:lstStyle/>
          <a:p>
            <a:pPr indent="0" marL="0">
              <a:buNone/>
            </a:pPr>
            <a:r>
              <a:rPr lang="en-US" sz="900" dirty="0">
                <a:solidFill>
                  <a:srgbClr val="8C8C8C"/>
                </a:solidFill>
                <a:latin typeface="Calibri" pitchFamily="34" charset="0"/>
                <a:ea typeface="Calibri" pitchFamily="34" charset="-122"/>
                <a:cs typeface="Calibri" pitchFamily="34" charset="-120"/>
              </a:rPr>
              <a:t>KPC Revenue Assurance  |  Board Strategy Pitch</a:t>
            </a:r>
            <a:endParaRPr lang="en-US" sz="900" dirty="0"/>
          </a:p>
        </p:txBody>
      </p:sp>
      <p:sp>
        <p:nvSpPr>
          <p:cNvPr id="20" name="Text 17"/>
          <p:cNvSpPr txBox="1"/>
          <p:nvPr/>
        </p:nvSpPr>
        <p:spPr>
          <a:xfrm>
            <a:off x="8229600" y="4828032"/>
            <a:ext cx="457200" cy="201168"/>
          </a:xfrm>
          <a:prstGeom prst="rect">
            <a:avLst/>
          </a:prstGeom>
          <a:noFill/>
          <a:ln/>
        </p:spPr>
        <p:txBody>
          <a:bodyPr wrap="square" lIns="0" tIns="0" rIns="0" bIns="0" rtlCol="0" anchor="ctr"/>
          <a:lstStyle/>
          <a:p>
            <a:pPr algn="r" indent="0" marL="0">
              <a:buNone/>
            </a:pPr>
            <a:r>
              <a:rPr lang="en-US" sz="900" dirty="0">
                <a:solidFill>
                  <a:srgbClr val="8C8C8C"/>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8229600" cy="731520"/>
          </a:xfrm>
          <a:prstGeom prst="rect">
            <a:avLst/>
          </a:prstGeom>
          <a:noFill/>
          <a:ln/>
        </p:spPr>
        <p:txBody>
          <a:bodyPr wrap="square" lIns="0" tIns="0" rIns="0" bIns="0" rtlCol="0" anchor="t"/>
          <a:lstStyle/>
          <a:p>
            <a:pPr indent="0" marL="0">
              <a:buNone/>
            </a:pPr>
            <a:r>
              <a:rPr lang="en-US" sz="3000" b="1" dirty="0">
                <a:solidFill>
                  <a:srgbClr val="1C1C1C"/>
                </a:solidFill>
                <a:latin typeface="Calibri" pitchFamily="34" charset="0"/>
                <a:ea typeface="Calibri" pitchFamily="34" charset="-122"/>
                <a:cs typeface="Calibri" pitchFamily="34" charset="-120"/>
              </a:rPr>
              <a:t>The numbers: positive even in the cautious case</a:t>
            </a:r>
            <a:endParaRPr lang="en-US" sz="3000" dirty="0"/>
          </a:p>
        </p:txBody>
      </p:sp>
      <p:graphicFrame>
        <p:nvGraphicFramePr>
          <p:cNvPr id="3" name="Chart 0" descr=""/>
          <p:cNvGraphicFramePr/>
          <p:nvPr/>
        </p:nvGraphicFramePr>
        <p:xfrm>
          <a:off x="365760" y="1143000"/>
          <a:ext cx="5029200" cy="3246120"/>
        </p:xfrm>
        <a:graphic xmlns:a="http://schemas.openxmlformats.org/drawingml/2006/main">
          <a:graphicData uri="http://schemas.openxmlformats.org/drawingml/2006/chart">
            <c:chart xmlns:c="http://schemas.openxmlformats.org/drawingml/2006/chart" r:id="rId1"/>
          </a:graphicData>
        </a:graphic>
      </p:graphicFrame>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23560" y="1280160"/>
          <a:ext cx="3063240" cy="914400"/>
        </p:xfrm>
        <a:graphic>
          <a:graphicData uri="http://schemas.openxmlformats.org/drawingml/2006/table">
            <a:tbl>
              <a:tblPr/>
              <a:tblGrid>
                <a:gridCol w="1234440"/>
                <a:gridCol w="914400"/>
                <a:gridCol w="914400"/>
              </a:tblGrid>
              <a:tr h="329184">
                <a:tc>
                  <a:txBody>
                    <a:bodyPr/>
                    <a:lstStyle/>
                    <a:p>
                      <a:pPr algn="ct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90113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Base</a:t>
                      </a:r>
                      <a:endParaRPr lang="en-US" sz="11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90113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Cautious</a:t>
                      </a:r>
                      <a:endParaRPr lang="en-US" sz="11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90113E"/>
                    </a:solidFill>
                  </a:tcPr>
                </a:tc>
              </a:tr>
              <a:tr h="329184">
                <a:tc>
                  <a:txBody>
                    <a:bodyPr/>
                    <a:lstStyle/>
                    <a:p>
                      <a:pPr indent="0" marL="0">
                        <a:buNone/>
                      </a:pPr>
                      <a:r>
                        <a:rPr lang="en-US" sz="1100" dirty="0">
                          <a:solidFill>
                            <a:srgbClr val="1C1C1C"/>
                          </a:solidFill>
                          <a:latin typeface="Calibri" pitchFamily="34" charset="0"/>
                          <a:ea typeface="Calibri" pitchFamily="34" charset="-122"/>
                          <a:cs typeface="Calibri" pitchFamily="34" charset="-120"/>
                        </a:rPr>
                        <a:t>Share recovered</a:t>
                      </a:r>
                      <a:endParaRPr lang="en-US" sz="11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rgbClr val="1C1C1C"/>
                          </a:solidFill>
                          <a:latin typeface="Calibri" pitchFamily="34" charset="0"/>
                          <a:ea typeface="Calibri" pitchFamily="34" charset="-122"/>
                          <a:cs typeface="Calibri" pitchFamily="34" charset="-120"/>
                        </a:rPr>
                        <a:t>50%</a:t>
                      </a:r>
                      <a:endParaRPr lang="en-US" sz="11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rgbClr val="1C1C1C"/>
                          </a:solidFill>
                          <a:latin typeface="Calibri" pitchFamily="34" charset="0"/>
                          <a:ea typeface="Calibri" pitchFamily="34" charset="-122"/>
                          <a:cs typeface="Calibri" pitchFamily="34" charset="-120"/>
                        </a:rPr>
                        <a:t>25%</a:t>
                      </a:r>
                      <a:endParaRPr lang="en-US" sz="11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329184">
                <a:tc>
                  <a:txBody>
                    <a:bodyPr/>
                    <a:lstStyle/>
                    <a:p>
                      <a:pPr indent="0" marL="0">
                        <a:buNone/>
                      </a:pPr>
                      <a:r>
                        <a:rPr lang="en-US" sz="1100" dirty="0">
                          <a:solidFill>
                            <a:srgbClr val="1C1C1C"/>
                          </a:solidFill>
                          <a:latin typeface="Calibri" pitchFamily="34" charset="0"/>
                          <a:ea typeface="Calibri" pitchFamily="34" charset="-122"/>
                          <a:cs typeface="Calibri" pitchFamily="34" charset="-120"/>
                        </a:rPr>
                        <a:t>Annual savings</a:t>
                      </a:r>
                      <a:endParaRPr lang="en-US" sz="11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100" b="1" dirty="0">
                          <a:solidFill>
                            <a:srgbClr val="1C1C1C"/>
                          </a:solidFill>
                          <a:latin typeface="Calibri" pitchFamily="34" charset="0"/>
                          <a:ea typeface="Calibri" pitchFamily="34" charset="-122"/>
                          <a:cs typeface="Calibri" pitchFamily="34" charset="-120"/>
                        </a:rPr>
                        <a:t>KES 19.00M</a:t>
                      </a:r>
                      <a:endParaRPr lang="en-US" sz="11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100" b="1" dirty="0">
                          <a:solidFill>
                            <a:srgbClr val="1C1C1C"/>
                          </a:solidFill>
                          <a:latin typeface="Calibri" pitchFamily="34" charset="0"/>
                          <a:ea typeface="Calibri" pitchFamily="34" charset="-122"/>
                          <a:cs typeface="Calibri" pitchFamily="34" charset="-120"/>
                        </a:rPr>
                        <a:t>KES 7.75M</a:t>
                      </a:r>
                      <a:endParaRPr lang="en-US" sz="11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329184">
                <a:tc>
                  <a:txBody>
                    <a:bodyPr/>
                    <a:lstStyle/>
                    <a:p>
                      <a:pPr indent="0" marL="0">
                        <a:buNone/>
                      </a:pPr>
                      <a:r>
                        <a:rPr lang="en-US" sz="1100" dirty="0">
                          <a:solidFill>
                            <a:srgbClr val="1C1C1C"/>
                          </a:solidFill>
                          <a:latin typeface="Calibri" pitchFamily="34" charset="0"/>
                          <a:ea typeface="Calibri" pitchFamily="34" charset="-122"/>
                          <a:cs typeface="Calibri" pitchFamily="34" charset="-120"/>
                        </a:rPr>
                        <a:t>3-year net gain</a:t>
                      </a:r>
                      <a:endParaRPr lang="en-US" sz="11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rgbClr val="1C1C1C"/>
                          </a:solidFill>
                          <a:latin typeface="Calibri" pitchFamily="34" charset="0"/>
                          <a:ea typeface="Calibri" pitchFamily="34" charset="-122"/>
                          <a:cs typeface="Calibri" pitchFamily="34" charset="-120"/>
                        </a:rPr>
                        <a:t>KES 45.00M</a:t>
                      </a:r>
                      <a:endParaRPr lang="en-US" sz="11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rgbClr val="1C1C1C"/>
                          </a:solidFill>
                          <a:latin typeface="Calibri" pitchFamily="34" charset="0"/>
                          <a:ea typeface="Calibri" pitchFamily="34" charset="-122"/>
                          <a:cs typeface="Calibri" pitchFamily="34" charset="-120"/>
                        </a:rPr>
                        <a:t>KES 11.25M</a:t>
                      </a:r>
                      <a:endParaRPr lang="en-US" sz="11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329184">
                <a:tc>
                  <a:txBody>
                    <a:bodyPr/>
                    <a:lstStyle/>
                    <a:p>
                      <a:pPr indent="0" marL="0">
                        <a:buNone/>
                      </a:pPr>
                      <a:r>
                        <a:rPr lang="en-US" sz="1100" b="1" dirty="0">
                          <a:solidFill>
                            <a:srgbClr val="1C1C1C"/>
                          </a:solidFill>
                          <a:latin typeface="Calibri" pitchFamily="34" charset="0"/>
                          <a:ea typeface="Calibri" pitchFamily="34" charset="-122"/>
                          <a:cs typeface="Calibri" pitchFamily="34" charset="-120"/>
                        </a:rPr>
                        <a:t>ROI</a:t>
                      </a:r>
                      <a:endParaRPr lang="en-US" sz="11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100" b="1" dirty="0">
                          <a:solidFill>
                            <a:srgbClr val="1C1C1C"/>
                          </a:solidFill>
                          <a:latin typeface="Calibri" pitchFamily="34" charset="0"/>
                          <a:ea typeface="Calibri" pitchFamily="34" charset="-122"/>
                          <a:cs typeface="Calibri" pitchFamily="34" charset="-120"/>
                        </a:rPr>
                        <a:t>375%</a:t>
                      </a:r>
                      <a:endParaRPr lang="en-US" sz="11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100" b="1" dirty="0">
                          <a:solidFill>
                            <a:srgbClr val="1C1C1C"/>
                          </a:solidFill>
                          <a:latin typeface="Calibri" pitchFamily="34" charset="0"/>
                          <a:ea typeface="Calibri" pitchFamily="34" charset="-122"/>
                          <a:cs typeface="Calibri" pitchFamily="34" charset="-120"/>
                        </a:rPr>
                        <a:t>94%</a:t>
                      </a:r>
                      <a:endParaRPr lang="en-US" sz="11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329184">
                <a:tc>
                  <a:txBody>
                    <a:bodyPr/>
                    <a:lstStyle/>
                    <a:p>
                      <a:pPr indent="0" marL="0">
                        <a:buNone/>
                      </a:pPr>
                      <a:r>
                        <a:rPr lang="en-US" sz="1100" b="1" dirty="0">
                          <a:solidFill>
                            <a:srgbClr val="1C1C1C"/>
                          </a:solidFill>
                          <a:latin typeface="Calibri" pitchFamily="34" charset="0"/>
                          <a:ea typeface="Calibri" pitchFamily="34" charset="-122"/>
                          <a:cs typeface="Calibri" pitchFamily="34" charset="-120"/>
                        </a:rPr>
                        <a:t>Payback</a:t>
                      </a:r>
                      <a:endParaRPr lang="en-US" sz="11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100" b="1" dirty="0">
                          <a:solidFill>
                            <a:srgbClr val="1C1C1C"/>
                          </a:solidFill>
                          <a:latin typeface="Calibri" pitchFamily="34" charset="0"/>
                          <a:ea typeface="Calibri" pitchFamily="34" charset="-122"/>
                          <a:cs typeface="Calibri" pitchFamily="34" charset="-120"/>
                        </a:rPr>
                        <a:t>7.6 mo</a:t>
                      </a:r>
                      <a:endParaRPr lang="en-US" sz="11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100" b="1" dirty="0">
                          <a:solidFill>
                            <a:srgbClr val="1C1C1C"/>
                          </a:solidFill>
                          <a:latin typeface="Calibri" pitchFamily="34" charset="0"/>
                          <a:ea typeface="Calibri" pitchFamily="34" charset="-122"/>
                          <a:cs typeface="Calibri" pitchFamily="34" charset="-120"/>
                        </a:rPr>
                        <a:t>18.6 mo</a:t>
                      </a:r>
                      <a:endParaRPr lang="en-US" sz="11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
        <p:nvSpPr>
          <p:cNvPr id="5" name="Text 1"/>
          <p:cNvSpPr txBox="1"/>
          <p:nvPr/>
        </p:nvSpPr>
        <p:spPr>
          <a:xfrm>
            <a:off x="5623560" y="3383280"/>
            <a:ext cx="3063240" cy="868680"/>
          </a:xfrm>
          <a:prstGeom prst="rect">
            <a:avLst/>
          </a:prstGeom>
          <a:noFill/>
          <a:ln/>
        </p:spPr>
        <p:txBody>
          <a:bodyPr wrap="square" lIns="0" tIns="0" rIns="0" bIns="0" rtlCol="0" anchor="t"/>
          <a:lstStyle/>
          <a:p>
            <a:pPr indent="0" marL="0">
              <a:buNone/>
            </a:pPr>
            <a:r>
              <a:rPr lang="en-US" sz="1050" dirty="0">
                <a:solidFill>
                  <a:srgbClr val="5A5A5A"/>
                </a:solidFill>
                <a:latin typeface="Calibri" pitchFamily="34" charset="0"/>
                <a:ea typeface="Calibri" pitchFamily="34" charset="-122"/>
                <a:cs typeface="Calibri" pitchFamily="34" charset="-120"/>
              </a:rPr>
              <a:t>Annual savings = KES 45M × share recovered − KES 3.5M running cost. ROI = (3 years of savings − KES 12M) ÷ KES 12M.</a:t>
            </a:r>
            <a:endParaRPr lang="en-US" sz="1050" dirty="0"/>
          </a:p>
        </p:txBody>
      </p:sp>
      <p:sp>
        <p:nvSpPr>
          <p:cNvPr id="6" name="Text 2"/>
          <p:cNvSpPr txBox="1"/>
          <p:nvPr/>
        </p:nvSpPr>
        <p:spPr>
          <a:xfrm>
            <a:off x="457200" y="4572000"/>
            <a:ext cx="8229600" cy="228600"/>
          </a:xfrm>
          <a:prstGeom prst="rect">
            <a:avLst/>
          </a:prstGeom>
          <a:noFill/>
          <a:ln/>
        </p:spPr>
        <p:txBody>
          <a:bodyPr wrap="square" lIns="0" tIns="0" rIns="0" bIns="0" rtlCol="0" anchor="ctr"/>
          <a:lstStyle/>
          <a:p>
            <a:pPr indent="0" marL="0">
              <a:buNone/>
            </a:pPr>
            <a:r>
              <a:rPr lang="en-US" sz="1000" dirty="0">
                <a:solidFill>
                  <a:srgbClr val="5A5A5A"/>
                </a:solidFill>
                <a:latin typeface="Calibri" pitchFamily="34" charset="0"/>
                <a:ea typeface="Calibri" pitchFamily="34" charset="-122"/>
                <a:cs typeface="Calibri" pitchFamily="34" charset="-120"/>
              </a:rPr>
              <a:t>Costs are planning assumptions pending a Finance quote. Not counted: faster cash and lower audit effort.</a:t>
            </a:r>
            <a:endParaRPr lang="en-US" sz="1000" dirty="0"/>
          </a:p>
        </p:txBody>
      </p:sp>
      <p:sp>
        <p:nvSpPr>
          <p:cNvPr id="7" name="Text 3"/>
          <p:cNvSpPr txBox="1"/>
          <p:nvPr/>
        </p:nvSpPr>
        <p:spPr>
          <a:xfrm>
            <a:off x="457200" y="4828032"/>
            <a:ext cx="5486400" cy="201168"/>
          </a:xfrm>
          <a:prstGeom prst="rect">
            <a:avLst/>
          </a:prstGeom>
          <a:noFill/>
          <a:ln/>
        </p:spPr>
        <p:txBody>
          <a:bodyPr wrap="square" lIns="0" tIns="0" rIns="0" bIns="0" rtlCol="0" anchor="ctr"/>
          <a:lstStyle/>
          <a:p>
            <a:pPr indent="0" marL="0">
              <a:buNone/>
            </a:pPr>
            <a:r>
              <a:rPr lang="en-US" sz="900" dirty="0">
                <a:solidFill>
                  <a:srgbClr val="8C8C8C"/>
                </a:solidFill>
                <a:latin typeface="Calibri" pitchFamily="34" charset="0"/>
                <a:ea typeface="Calibri" pitchFamily="34" charset="-122"/>
                <a:cs typeface="Calibri" pitchFamily="34" charset="-120"/>
              </a:rPr>
              <a:t>KPC Revenue Assurance  |  Board Strategy Pitch</a:t>
            </a:r>
            <a:endParaRPr lang="en-US" sz="900" dirty="0"/>
          </a:p>
        </p:txBody>
      </p:sp>
      <p:sp>
        <p:nvSpPr>
          <p:cNvPr id="8" name="Text 4"/>
          <p:cNvSpPr txBox="1"/>
          <p:nvPr/>
        </p:nvSpPr>
        <p:spPr>
          <a:xfrm>
            <a:off x="8229600" y="4828032"/>
            <a:ext cx="457200" cy="201168"/>
          </a:xfrm>
          <a:prstGeom prst="rect">
            <a:avLst/>
          </a:prstGeom>
          <a:noFill/>
          <a:ln/>
        </p:spPr>
        <p:txBody>
          <a:bodyPr wrap="square" lIns="0" tIns="0" rIns="0" bIns="0" rtlCol="0" anchor="ctr"/>
          <a:lstStyle/>
          <a:p>
            <a:pPr algn="r" indent="0" marL="0">
              <a:buNone/>
            </a:pPr>
            <a:r>
              <a:rPr lang="en-US" sz="900" dirty="0">
                <a:solidFill>
                  <a:srgbClr val="8C8C8C"/>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8229600" cy="731520"/>
          </a:xfrm>
          <a:prstGeom prst="rect">
            <a:avLst/>
          </a:prstGeom>
          <a:noFill/>
          <a:ln/>
        </p:spPr>
        <p:txBody>
          <a:bodyPr wrap="square" lIns="0" tIns="0" rIns="0" bIns="0" rtlCol="0" anchor="t"/>
          <a:lstStyle/>
          <a:p>
            <a:pPr indent="0" marL="0">
              <a:buNone/>
            </a:pPr>
            <a:r>
              <a:rPr lang="en-US" sz="3000" b="1" dirty="0">
                <a:solidFill>
                  <a:srgbClr val="1C1C1C"/>
                </a:solidFill>
                <a:latin typeface="Calibri" pitchFamily="34" charset="0"/>
                <a:ea typeface="Calibri" pitchFamily="34" charset="-122"/>
                <a:cs typeface="Calibri" pitchFamily="34" charset="-120"/>
              </a:rPr>
              <a:t>A quick win that builds toward prediction</a:t>
            </a:r>
            <a:endParaRPr lang="en-US" sz="3000" dirty="0"/>
          </a:p>
        </p:txBody>
      </p:sp>
      <p:sp>
        <p:nvSpPr>
          <p:cNvPr id="3" name="Shape 1"/>
          <p:cNvSpPr/>
          <p:nvPr/>
        </p:nvSpPr>
        <p:spPr>
          <a:xfrm>
            <a:off x="457200" y="3520440"/>
            <a:ext cx="1133856" cy="822960"/>
          </a:xfrm>
          <a:prstGeom prst="rect">
            <a:avLst/>
          </a:prstGeom>
          <a:solidFill>
            <a:srgbClr val="90113E"/>
          </a:solidFill>
          <a:ln w="12700">
            <a:solidFill>
              <a:srgbClr val="90113E"/>
            </a:solidFill>
            <a:prstDash val="solid"/>
          </a:ln>
        </p:spPr>
      </p:sp>
      <p:sp>
        <p:nvSpPr>
          <p:cNvPr id="4" name="Text 2"/>
          <p:cNvSpPr txBox="1"/>
          <p:nvPr/>
        </p:nvSpPr>
        <p:spPr>
          <a:xfrm>
            <a:off x="502920" y="3520440"/>
            <a:ext cx="1042416" cy="8229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Descriptive</a:t>
            </a:r>
            <a:endParaRPr lang="en-US" sz="1200" dirty="0"/>
          </a:p>
          <a:p>
            <a:pPr algn="ctr" indent="0" marL="0">
              <a:buNone/>
            </a:pPr>
            <a:r>
              <a:rPr lang="en-US" sz="1000" dirty="0">
                <a:solidFill>
                  <a:srgbClr val="FFFFFF"/>
                </a:solidFill>
                <a:latin typeface="Calibri" pitchFamily="34" charset="0"/>
                <a:ea typeface="Calibri" pitchFamily="34" charset="-122"/>
                <a:cs typeface="Calibri" pitchFamily="34" charset="-120"/>
              </a:rPr>
              <a:t>What happened</a:t>
            </a:r>
            <a:endParaRPr lang="en-US" sz="1200" dirty="0"/>
          </a:p>
        </p:txBody>
      </p:sp>
      <p:sp>
        <p:nvSpPr>
          <p:cNvPr id="5" name="Shape 3"/>
          <p:cNvSpPr/>
          <p:nvPr/>
        </p:nvSpPr>
        <p:spPr>
          <a:xfrm>
            <a:off x="1664208" y="3017520"/>
            <a:ext cx="1133856" cy="1325880"/>
          </a:xfrm>
          <a:prstGeom prst="rect">
            <a:avLst/>
          </a:prstGeom>
          <a:solidFill>
            <a:srgbClr val="90113E"/>
          </a:solidFill>
          <a:ln w="12700">
            <a:solidFill>
              <a:srgbClr val="90113E"/>
            </a:solidFill>
            <a:prstDash val="solid"/>
          </a:ln>
        </p:spPr>
      </p:sp>
      <p:sp>
        <p:nvSpPr>
          <p:cNvPr id="6" name="Text 4"/>
          <p:cNvSpPr txBox="1"/>
          <p:nvPr/>
        </p:nvSpPr>
        <p:spPr>
          <a:xfrm>
            <a:off x="1709928" y="3017520"/>
            <a:ext cx="1042416" cy="13258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Diagnostic</a:t>
            </a:r>
            <a:endParaRPr lang="en-US" sz="1200" dirty="0"/>
          </a:p>
          <a:p>
            <a:pPr algn="ctr" indent="0" marL="0">
              <a:buNone/>
            </a:pPr>
            <a:r>
              <a:rPr lang="en-US" sz="1000" dirty="0">
                <a:solidFill>
                  <a:srgbClr val="FFFFFF"/>
                </a:solidFill>
                <a:latin typeface="Calibri" pitchFamily="34" charset="0"/>
                <a:ea typeface="Calibri" pitchFamily="34" charset="-122"/>
                <a:cs typeface="Calibri" pitchFamily="34" charset="-120"/>
              </a:rPr>
              <a:t>Why it happened</a:t>
            </a:r>
            <a:endParaRPr lang="en-US" sz="1200" dirty="0"/>
          </a:p>
        </p:txBody>
      </p:sp>
      <p:sp>
        <p:nvSpPr>
          <p:cNvPr id="7" name="Shape 5"/>
          <p:cNvSpPr/>
          <p:nvPr/>
        </p:nvSpPr>
        <p:spPr>
          <a:xfrm>
            <a:off x="2871216" y="2514600"/>
            <a:ext cx="1133856" cy="1828800"/>
          </a:xfrm>
          <a:prstGeom prst="rect">
            <a:avLst/>
          </a:prstGeom>
          <a:solidFill>
            <a:srgbClr val="07777C"/>
          </a:solidFill>
          <a:ln w="12700">
            <a:solidFill>
              <a:srgbClr val="07777C"/>
            </a:solidFill>
            <a:prstDash val="solid"/>
          </a:ln>
        </p:spPr>
      </p:sp>
      <p:sp>
        <p:nvSpPr>
          <p:cNvPr id="8" name="Text 6"/>
          <p:cNvSpPr txBox="1"/>
          <p:nvPr/>
        </p:nvSpPr>
        <p:spPr>
          <a:xfrm>
            <a:off x="2916936" y="2514600"/>
            <a:ext cx="1042416" cy="18288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Predictive</a:t>
            </a:r>
            <a:endParaRPr lang="en-US" sz="1200" dirty="0"/>
          </a:p>
          <a:p>
            <a:pPr algn="ctr" indent="0" marL="0">
              <a:buNone/>
            </a:pPr>
            <a:r>
              <a:rPr lang="en-US" sz="1000" dirty="0">
                <a:solidFill>
                  <a:srgbClr val="FFFFFF"/>
                </a:solidFill>
                <a:latin typeface="Calibri" pitchFamily="34" charset="0"/>
                <a:ea typeface="Calibri" pitchFamily="34" charset="-122"/>
                <a:cs typeface="Calibri" pitchFamily="34" charset="-120"/>
              </a:rPr>
              <a:t>What will happen</a:t>
            </a:r>
            <a:endParaRPr lang="en-US" sz="1200" dirty="0"/>
          </a:p>
        </p:txBody>
      </p:sp>
      <p:sp>
        <p:nvSpPr>
          <p:cNvPr id="9" name="Shape 7"/>
          <p:cNvSpPr/>
          <p:nvPr/>
        </p:nvSpPr>
        <p:spPr>
          <a:xfrm>
            <a:off x="4078224" y="2011680"/>
            <a:ext cx="1133856" cy="2331720"/>
          </a:xfrm>
          <a:prstGeom prst="rect">
            <a:avLst/>
          </a:prstGeom>
          <a:solidFill>
            <a:srgbClr val="BFBFBF"/>
          </a:solidFill>
          <a:ln w="12700">
            <a:solidFill>
              <a:srgbClr val="BFBFBF"/>
            </a:solidFill>
            <a:prstDash val="solid"/>
          </a:ln>
        </p:spPr>
      </p:sp>
      <p:sp>
        <p:nvSpPr>
          <p:cNvPr id="10" name="Text 8"/>
          <p:cNvSpPr txBox="1"/>
          <p:nvPr/>
        </p:nvSpPr>
        <p:spPr>
          <a:xfrm>
            <a:off x="4123944" y="2011680"/>
            <a:ext cx="1042416" cy="2331720"/>
          </a:xfrm>
          <a:prstGeom prst="rect">
            <a:avLst/>
          </a:prstGeom>
          <a:noFill/>
          <a:ln/>
        </p:spPr>
        <p:txBody>
          <a:bodyPr wrap="square" lIns="0" tIns="0" rIns="0" bIns="0" rtlCol="0" anchor="ctr"/>
          <a:lstStyle/>
          <a:p>
            <a:pPr algn="ctr" indent="0" marL="0">
              <a:buNone/>
            </a:pPr>
            <a:r>
              <a:rPr lang="en-US" sz="1200" b="1" dirty="0">
                <a:solidFill>
                  <a:srgbClr val="1C1C1C"/>
                </a:solidFill>
                <a:latin typeface="Calibri" pitchFamily="34" charset="0"/>
                <a:ea typeface="Calibri" pitchFamily="34" charset="-122"/>
                <a:cs typeface="Calibri" pitchFamily="34" charset="-120"/>
              </a:rPr>
              <a:t>Prescriptive</a:t>
            </a:r>
            <a:endParaRPr lang="en-US" sz="1200" dirty="0"/>
          </a:p>
          <a:p>
            <a:pPr algn="ctr" indent="0" marL="0">
              <a:buNone/>
            </a:pPr>
            <a:r>
              <a:rPr lang="en-US" sz="1000" dirty="0">
                <a:solidFill>
                  <a:srgbClr val="1C1C1C"/>
                </a:solidFill>
                <a:latin typeface="Calibri" pitchFamily="34" charset="0"/>
                <a:ea typeface="Calibri" pitchFamily="34" charset="-122"/>
                <a:cs typeface="Calibri" pitchFamily="34" charset="-120"/>
              </a:rPr>
              <a:t>What to do</a:t>
            </a:r>
            <a:endParaRPr lang="en-US" sz="1200" dirty="0"/>
          </a:p>
        </p:txBody>
      </p:sp>
      <p:sp>
        <p:nvSpPr>
          <p:cNvPr id="11" name="Text 9"/>
          <p:cNvSpPr txBox="1"/>
          <p:nvPr/>
        </p:nvSpPr>
        <p:spPr>
          <a:xfrm>
            <a:off x="457200" y="2606040"/>
            <a:ext cx="2286000" cy="457200"/>
          </a:xfrm>
          <a:prstGeom prst="rect">
            <a:avLst/>
          </a:prstGeom>
          <a:noFill/>
          <a:ln/>
        </p:spPr>
        <p:txBody>
          <a:bodyPr wrap="square" lIns="0" tIns="0" rIns="0" bIns="0" rtlCol="0" anchor="ctr"/>
          <a:lstStyle/>
          <a:p>
            <a:pPr indent="0" marL="0">
              <a:buNone/>
            </a:pPr>
            <a:r>
              <a:rPr lang="en-US" sz="1100" b="1" dirty="0">
                <a:solidFill>
                  <a:srgbClr val="90113E"/>
                </a:solidFill>
                <a:latin typeface="Calibri" pitchFamily="34" charset="0"/>
                <a:ea typeface="Calibri" pitchFamily="34" charset="-122"/>
                <a:cs typeface="Calibri" pitchFamily="34" charset="-120"/>
              </a:rPr>
              <a:t>Today: live dashboards and compliance checks</a:t>
            </a:r>
            <a:endParaRPr lang="en-US" sz="1100" dirty="0"/>
          </a:p>
        </p:txBody>
      </p:sp>
      <p:sp>
        <p:nvSpPr>
          <p:cNvPr id="12" name="Text 10"/>
          <p:cNvSpPr txBox="1"/>
          <p:nvPr/>
        </p:nvSpPr>
        <p:spPr>
          <a:xfrm>
            <a:off x="2880360" y="1371600"/>
            <a:ext cx="2194560" cy="685800"/>
          </a:xfrm>
          <a:prstGeom prst="rect">
            <a:avLst/>
          </a:prstGeom>
          <a:noFill/>
          <a:ln/>
        </p:spPr>
        <p:txBody>
          <a:bodyPr wrap="square" lIns="0" tIns="0" rIns="0" bIns="0" rtlCol="0" anchor="ctr"/>
          <a:lstStyle/>
          <a:p>
            <a:pPr indent="0" marL="0">
              <a:buNone/>
            </a:pPr>
            <a:r>
              <a:rPr lang="en-US" sz="1100" b="1" dirty="0">
                <a:solidFill>
                  <a:srgbClr val="07777C"/>
                </a:solidFill>
                <a:latin typeface="Calibri" pitchFamily="34" charset="0"/>
                <a:ea typeface="Calibri" pitchFamily="34" charset="-122"/>
                <a:cs typeface="Calibri" pitchFamily="34" charset="-120"/>
              </a:rPr>
              <a:t>Next: flag risky charges before billing (tested on simulated data)</a:t>
            </a:r>
            <a:endParaRPr lang="en-US" sz="1100" dirty="0"/>
          </a:p>
        </p:txBody>
      </p:sp>
      <p:sp>
        <p:nvSpPr>
          <p:cNvPr id="13" name="Shape 11"/>
          <p:cNvSpPr/>
          <p:nvPr/>
        </p:nvSpPr>
        <p:spPr>
          <a:xfrm>
            <a:off x="5943600" y="1280160"/>
            <a:ext cx="1325880" cy="1325880"/>
          </a:xfrm>
          <a:prstGeom prst="rect">
            <a:avLst/>
          </a:prstGeom>
          <a:solidFill>
            <a:srgbClr val="F2F2F2"/>
          </a:solidFill>
          <a:ln w="12700">
            <a:solidFill>
              <a:srgbClr val="D9D9D9"/>
            </a:solidFill>
            <a:prstDash val="solid"/>
          </a:ln>
        </p:spPr>
      </p:sp>
      <p:sp>
        <p:nvSpPr>
          <p:cNvPr id="14" name="Shape 12"/>
          <p:cNvSpPr/>
          <p:nvPr/>
        </p:nvSpPr>
        <p:spPr>
          <a:xfrm>
            <a:off x="7269480" y="1280160"/>
            <a:ext cx="1325880" cy="1325880"/>
          </a:xfrm>
          <a:prstGeom prst="rect">
            <a:avLst/>
          </a:prstGeom>
          <a:solidFill>
            <a:srgbClr val="FBEFEA"/>
          </a:solidFill>
          <a:ln w="12700">
            <a:solidFill>
              <a:srgbClr val="D9D9D9"/>
            </a:solidFill>
            <a:prstDash val="solid"/>
          </a:ln>
        </p:spPr>
      </p:sp>
      <p:sp>
        <p:nvSpPr>
          <p:cNvPr id="15" name="Shape 13"/>
          <p:cNvSpPr/>
          <p:nvPr/>
        </p:nvSpPr>
        <p:spPr>
          <a:xfrm>
            <a:off x="5943600" y="2606040"/>
            <a:ext cx="1325880" cy="1325880"/>
          </a:xfrm>
          <a:prstGeom prst="rect">
            <a:avLst/>
          </a:prstGeom>
          <a:solidFill>
            <a:srgbClr val="FFFFFF"/>
          </a:solidFill>
          <a:ln w="12700">
            <a:solidFill>
              <a:srgbClr val="D9D9D9"/>
            </a:solidFill>
            <a:prstDash val="solid"/>
          </a:ln>
        </p:spPr>
      </p:sp>
      <p:sp>
        <p:nvSpPr>
          <p:cNvPr id="16" name="Shape 14"/>
          <p:cNvSpPr/>
          <p:nvPr/>
        </p:nvSpPr>
        <p:spPr>
          <a:xfrm>
            <a:off x="7269480" y="2606040"/>
            <a:ext cx="1325880" cy="1325880"/>
          </a:xfrm>
          <a:prstGeom prst="rect">
            <a:avLst/>
          </a:prstGeom>
          <a:solidFill>
            <a:srgbClr val="F2F2F2"/>
          </a:solidFill>
          <a:ln w="12700">
            <a:solidFill>
              <a:srgbClr val="D9D9D9"/>
            </a:solidFill>
            <a:prstDash val="solid"/>
          </a:ln>
        </p:spPr>
      </p:sp>
      <p:sp>
        <p:nvSpPr>
          <p:cNvPr id="17" name="Text 15"/>
          <p:cNvSpPr txBox="1"/>
          <p:nvPr/>
        </p:nvSpPr>
        <p:spPr>
          <a:xfrm>
            <a:off x="5943600" y="1371600"/>
            <a:ext cx="1325880" cy="320040"/>
          </a:xfrm>
          <a:prstGeom prst="rect">
            <a:avLst/>
          </a:prstGeom>
          <a:noFill/>
          <a:ln/>
        </p:spPr>
        <p:txBody>
          <a:bodyPr wrap="square" lIns="0" tIns="0" rIns="0" bIns="0" rtlCol="0" anchor="ctr"/>
          <a:lstStyle/>
          <a:p>
            <a:pPr algn="ctr" indent="0" marL="0">
              <a:buNone/>
            </a:pPr>
            <a:r>
              <a:rPr lang="en-US" sz="1100" dirty="0">
                <a:solidFill>
                  <a:srgbClr val="5A5A5A"/>
                </a:solidFill>
                <a:latin typeface="Calibri" pitchFamily="34" charset="0"/>
                <a:ea typeface="Calibri" pitchFamily="34" charset="-122"/>
                <a:cs typeface="Calibri" pitchFamily="34" charset="-120"/>
              </a:rPr>
              <a:t>Strategic bets</a:t>
            </a:r>
            <a:endParaRPr lang="en-US" sz="1100" dirty="0"/>
          </a:p>
        </p:txBody>
      </p:sp>
      <p:sp>
        <p:nvSpPr>
          <p:cNvPr id="18" name="Text 16"/>
          <p:cNvSpPr txBox="1"/>
          <p:nvPr/>
        </p:nvSpPr>
        <p:spPr>
          <a:xfrm>
            <a:off x="7269480" y="1371600"/>
            <a:ext cx="1325880" cy="320040"/>
          </a:xfrm>
          <a:prstGeom prst="rect">
            <a:avLst/>
          </a:prstGeom>
          <a:noFill/>
          <a:ln/>
        </p:spPr>
        <p:txBody>
          <a:bodyPr wrap="square" lIns="0" tIns="0" rIns="0" bIns="0" rtlCol="0" anchor="ctr"/>
          <a:lstStyle/>
          <a:p>
            <a:pPr algn="ctr" indent="0" marL="0">
              <a:buNone/>
            </a:pPr>
            <a:r>
              <a:rPr lang="en-US" sz="1100" b="1" dirty="0">
                <a:solidFill>
                  <a:srgbClr val="90113E"/>
                </a:solidFill>
                <a:latin typeface="Calibri" pitchFamily="34" charset="0"/>
                <a:ea typeface="Calibri" pitchFamily="34" charset="-122"/>
                <a:cs typeface="Calibri" pitchFamily="34" charset="-120"/>
              </a:rPr>
              <a:t>Quick wins</a:t>
            </a:r>
            <a:endParaRPr lang="en-US" sz="1100" dirty="0"/>
          </a:p>
        </p:txBody>
      </p:sp>
      <p:sp>
        <p:nvSpPr>
          <p:cNvPr id="19" name="Text 17"/>
          <p:cNvSpPr txBox="1"/>
          <p:nvPr/>
        </p:nvSpPr>
        <p:spPr>
          <a:xfrm>
            <a:off x="5943600" y="2697480"/>
            <a:ext cx="1325880" cy="320040"/>
          </a:xfrm>
          <a:prstGeom prst="rect">
            <a:avLst/>
          </a:prstGeom>
          <a:noFill/>
          <a:ln/>
        </p:spPr>
        <p:txBody>
          <a:bodyPr wrap="square" lIns="0" tIns="0" rIns="0" bIns="0" rtlCol="0" anchor="ctr"/>
          <a:lstStyle/>
          <a:p>
            <a:pPr algn="ctr" indent="0" marL="0">
              <a:buNone/>
            </a:pPr>
            <a:r>
              <a:rPr lang="en-US" sz="1100" dirty="0">
                <a:solidFill>
                  <a:srgbClr val="5A5A5A"/>
                </a:solidFill>
                <a:latin typeface="Calibri" pitchFamily="34" charset="0"/>
                <a:ea typeface="Calibri" pitchFamily="34" charset="-122"/>
                <a:cs typeface="Calibri" pitchFamily="34" charset="-120"/>
              </a:rPr>
              <a:t>Avoid</a:t>
            </a:r>
            <a:endParaRPr lang="en-US" sz="1100" dirty="0"/>
          </a:p>
        </p:txBody>
      </p:sp>
      <p:sp>
        <p:nvSpPr>
          <p:cNvPr id="20" name="Text 18"/>
          <p:cNvSpPr txBox="1"/>
          <p:nvPr/>
        </p:nvSpPr>
        <p:spPr>
          <a:xfrm>
            <a:off x="7269480" y="2697480"/>
            <a:ext cx="1325880" cy="320040"/>
          </a:xfrm>
          <a:prstGeom prst="rect">
            <a:avLst/>
          </a:prstGeom>
          <a:noFill/>
          <a:ln/>
        </p:spPr>
        <p:txBody>
          <a:bodyPr wrap="square" lIns="0" tIns="0" rIns="0" bIns="0" rtlCol="0" anchor="ctr"/>
          <a:lstStyle/>
          <a:p>
            <a:pPr algn="ctr" indent="0" marL="0">
              <a:buNone/>
            </a:pPr>
            <a:r>
              <a:rPr lang="en-US" sz="1100" dirty="0">
                <a:solidFill>
                  <a:srgbClr val="5A5A5A"/>
                </a:solidFill>
                <a:latin typeface="Calibri" pitchFamily="34" charset="0"/>
                <a:ea typeface="Calibri" pitchFamily="34" charset="-122"/>
                <a:cs typeface="Calibri" pitchFamily="34" charset="-120"/>
              </a:rPr>
              <a:t>Fill-ins</a:t>
            </a:r>
            <a:endParaRPr lang="en-US" sz="1100" dirty="0"/>
          </a:p>
        </p:txBody>
      </p:sp>
      <p:sp>
        <p:nvSpPr>
          <p:cNvPr id="21" name="Shape 19"/>
          <p:cNvSpPr/>
          <p:nvPr/>
        </p:nvSpPr>
        <p:spPr>
          <a:xfrm>
            <a:off x="7836408" y="1874520"/>
            <a:ext cx="384048" cy="384048"/>
          </a:xfrm>
          <a:prstGeom prst="ellipse">
            <a:avLst/>
          </a:prstGeom>
          <a:solidFill>
            <a:srgbClr val="90113E"/>
          </a:solidFill>
          <a:ln w="25400">
            <a:solidFill>
              <a:srgbClr val="FFFFFF"/>
            </a:solidFill>
            <a:prstDash val="solid"/>
          </a:ln>
        </p:spPr>
      </p:sp>
      <p:sp>
        <p:nvSpPr>
          <p:cNvPr id="22" name="Text 20"/>
          <p:cNvSpPr txBox="1"/>
          <p:nvPr/>
        </p:nvSpPr>
        <p:spPr>
          <a:xfrm>
            <a:off x="7315200" y="2286000"/>
            <a:ext cx="1234440" cy="274320"/>
          </a:xfrm>
          <a:prstGeom prst="rect">
            <a:avLst/>
          </a:prstGeom>
          <a:noFill/>
          <a:ln/>
        </p:spPr>
        <p:txBody>
          <a:bodyPr wrap="square" lIns="0" tIns="0" rIns="0" bIns="0" rtlCol="0" anchor="ctr"/>
          <a:lstStyle/>
          <a:p>
            <a:pPr algn="ctr" indent="0" marL="0">
              <a:buNone/>
            </a:pPr>
            <a:r>
              <a:rPr lang="en-US" sz="1100" b="1" dirty="0">
                <a:solidFill>
                  <a:srgbClr val="90113E"/>
                </a:solidFill>
                <a:latin typeface="Calibri" pitchFamily="34" charset="0"/>
                <a:ea typeface="Calibri" pitchFamily="34" charset="-122"/>
                <a:cs typeface="Calibri" pitchFamily="34" charset="-120"/>
              </a:rPr>
              <a:t>This project</a:t>
            </a:r>
            <a:endParaRPr lang="en-US" sz="1100" dirty="0"/>
          </a:p>
        </p:txBody>
      </p:sp>
      <p:sp>
        <p:nvSpPr>
          <p:cNvPr id="23" name="Text 21"/>
          <p:cNvSpPr txBox="1"/>
          <p:nvPr/>
        </p:nvSpPr>
        <p:spPr>
          <a:xfrm>
            <a:off x="5943600" y="4005072"/>
            <a:ext cx="2651760" cy="256032"/>
          </a:xfrm>
          <a:prstGeom prst="rect">
            <a:avLst/>
          </a:prstGeom>
          <a:noFill/>
          <a:ln/>
        </p:spPr>
        <p:txBody>
          <a:bodyPr wrap="square" lIns="0" tIns="0" rIns="0" bIns="0" rtlCol="0" anchor="ctr"/>
          <a:lstStyle/>
          <a:p>
            <a:pPr algn="ctr" indent="0" marL="0">
              <a:buNone/>
            </a:pPr>
            <a:r>
              <a:rPr lang="en-US" sz="1100" dirty="0">
                <a:solidFill>
                  <a:srgbClr val="5A5A5A"/>
                </a:solidFill>
                <a:latin typeface="Calibri" pitchFamily="34" charset="0"/>
                <a:ea typeface="Calibri" pitchFamily="34" charset="-122"/>
                <a:cs typeface="Calibri" pitchFamily="34" charset="-120"/>
              </a:rPr>
              <a:t>Feasibility  →</a:t>
            </a:r>
            <a:endParaRPr lang="en-US" sz="1100" dirty="0"/>
          </a:p>
        </p:txBody>
      </p:sp>
      <p:sp>
        <p:nvSpPr>
          <p:cNvPr id="24" name="Text 22"/>
          <p:cNvSpPr txBox="1"/>
          <p:nvPr/>
        </p:nvSpPr>
        <p:spPr>
          <a:xfrm>
            <a:off x="4828032" y="2478024"/>
            <a:ext cx="1097280" cy="256032"/>
          </a:xfrm>
          <a:prstGeom prst="rect">
            <a:avLst/>
          </a:prstGeom>
          <a:noFill/>
          <a:ln/>
        </p:spPr>
        <p:txBody>
          <a:bodyPr wrap="square" lIns="0" tIns="0" rIns="0" bIns="0" rtlCol="0" anchor="ctr"/>
          <a:lstStyle/>
          <a:p>
            <a:pPr algn="r" indent="0" marL="0">
              <a:buNone/>
            </a:pPr>
            <a:r>
              <a:rPr lang="en-US" sz="1100" dirty="0">
                <a:solidFill>
                  <a:srgbClr val="5A5A5A"/>
                </a:solidFill>
                <a:latin typeface="Calibri" pitchFamily="34" charset="0"/>
                <a:ea typeface="Calibri" pitchFamily="34" charset="-122"/>
                <a:cs typeface="Calibri" pitchFamily="34" charset="-120"/>
              </a:rPr>
              <a:t>Impact  →</a:t>
            </a:r>
            <a:endParaRPr lang="en-US" sz="1100" dirty="0"/>
          </a:p>
        </p:txBody>
      </p:sp>
      <p:sp>
        <p:nvSpPr>
          <p:cNvPr id="25" name="Text 23"/>
          <p:cNvSpPr txBox="1"/>
          <p:nvPr/>
        </p:nvSpPr>
        <p:spPr>
          <a:xfrm>
            <a:off x="457200" y="4828032"/>
            <a:ext cx="5486400" cy="201168"/>
          </a:xfrm>
          <a:prstGeom prst="rect">
            <a:avLst/>
          </a:prstGeom>
          <a:noFill/>
          <a:ln/>
        </p:spPr>
        <p:txBody>
          <a:bodyPr wrap="square" lIns="0" tIns="0" rIns="0" bIns="0" rtlCol="0" anchor="ctr"/>
          <a:lstStyle/>
          <a:p>
            <a:pPr indent="0" marL="0">
              <a:buNone/>
            </a:pPr>
            <a:r>
              <a:rPr lang="en-US" sz="900" dirty="0">
                <a:solidFill>
                  <a:srgbClr val="8C8C8C"/>
                </a:solidFill>
                <a:latin typeface="Calibri" pitchFamily="34" charset="0"/>
                <a:ea typeface="Calibri" pitchFamily="34" charset="-122"/>
                <a:cs typeface="Calibri" pitchFamily="34" charset="-120"/>
              </a:rPr>
              <a:t>KPC Revenue Assurance  |  Board Strategy Pitch</a:t>
            </a:r>
            <a:endParaRPr lang="en-US" sz="900" dirty="0"/>
          </a:p>
        </p:txBody>
      </p:sp>
      <p:sp>
        <p:nvSpPr>
          <p:cNvPr id="26" name="Text 24"/>
          <p:cNvSpPr txBox="1"/>
          <p:nvPr/>
        </p:nvSpPr>
        <p:spPr>
          <a:xfrm>
            <a:off x="8229600" y="4828032"/>
            <a:ext cx="457200" cy="201168"/>
          </a:xfrm>
          <a:prstGeom prst="rect">
            <a:avLst/>
          </a:prstGeom>
          <a:noFill/>
          <a:ln/>
        </p:spPr>
        <p:txBody>
          <a:bodyPr wrap="square" lIns="0" tIns="0" rIns="0" bIns="0" rtlCol="0" anchor="ctr"/>
          <a:lstStyle/>
          <a:p>
            <a:pPr algn="r" indent="0" marL="0">
              <a:buNone/>
            </a:pPr>
            <a:r>
              <a:rPr lang="en-US" sz="900" dirty="0">
                <a:solidFill>
                  <a:srgbClr val="8C8C8C"/>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8229600" cy="731520"/>
          </a:xfrm>
          <a:prstGeom prst="rect">
            <a:avLst/>
          </a:prstGeom>
          <a:noFill/>
          <a:ln/>
        </p:spPr>
        <p:txBody>
          <a:bodyPr wrap="square" lIns="0" tIns="0" rIns="0" bIns="0" rtlCol="0" anchor="t"/>
          <a:lstStyle/>
          <a:p>
            <a:pPr indent="0" marL="0">
              <a:buNone/>
            </a:pPr>
            <a:r>
              <a:rPr lang="en-US" sz="3000" b="1" dirty="0">
                <a:solidFill>
                  <a:srgbClr val="1C1C1C"/>
                </a:solidFill>
                <a:latin typeface="Calibri" pitchFamily="34" charset="0"/>
                <a:ea typeface="Calibri" pitchFamily="34" charset="-122"/>
                <a:cs typeface="Calibri" pitchFamily="34" charset="-120"/>
              </a:rPr>
              <a:t>A staged rollout with a decision gate</a:t>
            </a:r>
            <a:endParaRPr lang="en-US" sz="3000" dirty="0"/>
          </a:p>
        </p:txBody>
      </p:sp>
      <p:sp>
        <p:nvSpPr>
          <p:cNvPr id="3" name="Shape 1"/>
          <p:cNvSpPr/>
          <p:nvPr/>
        </p:nvSpPr>
        <p:spPr>
          <a:xfrm>
            <a:off x="457200" y="1280160"/>
            <a:ext cx="2606040" cy="2514600"/>
          </a:xfrm>
          <a:prstGeom prst="roundRect">
            <a:avLst>
              <a:gd name="adj" fmla="val 2909"/>
            </a:avLst>
          </a:prstGeom>
          <a:solidFill>
            <a:srgbClr val="FBEFEA"/>
          </a:solidFill>
          <a:ln w="12700">
            <a:solidFill>
              <a:srgbClr val="FBEFEA"/>
            </a:solidFill>
            <a:prstDash val="solid"/>
          </a:ln>
        </p:spPr>
      </p:sp>
      <p:sp>
        <p:nvSpPr>
          <p:cNvPr id="4" name="Shape 2"/>
          <p:cNvSpPr/>
          <p:nvPr/>
        </p:nvSpPr>
        <p:spPr>
          <a:xfrm>
            <a:off x="640080" y="1417320"/>
            <a:ext cx="457200" cy="457200"/>
          </a:xfrm>
          <a:prstGeom prst="ellipse">
            <a:avLst/>
          </a:prstGeom>
          <a:solidFill>
            <a:srgbClr val="90113E"/>
          </a:solidFill>
          <a:ln w="12700">
            <a:solidFill>
              <a:srgbClr val="90113E"/>
            </a:solidFill>
            <a:prstDash val="solid"/>
          </a:ln>
        </p:spPr>
      </p:sp>
      <p:pic>
        <p:nvPicPr>
          <p:cNvPr id="5" name="Image 0" descr="preencoded.png">    </p:cNvPr>
          <p:cNvPicPr>
            <a:picLocks noChangeAspect="1"/>
          </p:cNvPicPr>
          <p:nvPr/>
        </p:nvPicPr>
        <p:blipFill>
          <a:blip r:embed="rId1"/>
          <a:stretch>
            <a:fillRect/>
          </a:stretch>
        </p:blipFill>
        <p:spPr>
          <a:xfrm>
            <a:off x="758952" y="1536192"/>
            <a:ext cx="219456" cy="219456"/>
          </a:xfrm>
          <a:prstGeom prst="rect">
            <a:avLst/>
          </a:prstGeom>
        </p:spPr>
      </p:pic>
      <p:sp>
        <p:nvSpPr>
          <p:cNvPr id="6" name="Text 3"/>
          <p:cNvSpPr txBox="1"/>
          <p:nvPr/>
        </p:nvSpPr>
        <p:spPr>
          <a:xfrm>
            <a:off x="1207008" y="1371600"/>
            <a:ext cx="1783080" cy="566928"/>
          </a:xfrm>
          <a:prstGeom prst="rect">
            <a:avLst/>
          </a:prstGeom>
          <a:noFill/>
          <a:ln/>
        </p:spPr>
        <p:txBody>
          <a:bodyPr wrap="square" lIns="0" tIns="0" rIns="0" bIns="0" rtlCol="0" anchor="ctr"/>
          <a:lstStyle/>
          <a:p>
            <a:pPr indent="0" marL="0">
              <a:buNone/>
            </a:pPr>
            <a:r>
              <a:rPr lang="en-US" sz="1100" dirty="0">
                <a:solidFill>
                  <a:srgbClr val="5A5A5A"/>
                </a:solidFill>
                <a:latin typeface="Calibri" pitchFamily="34" charset="0"/>
                <a:ea typeface="Calibri" pitchFamily="34" charset="-122"/>
                <a:cs typeface="Calibri" pitchFamily="34" charset="-120"/>
              </a:rPr>
              <a:t>Days 0 to 60</a:t>
            </a:r>
            <a:endParaRPr lang="en-US" sz="1100" dirty="0"/>
          </a:p>
          <a:p>
            <a:pPr indent="0" marL="0">
              <a:buNone/>
            </a:pPr>
            <a:r>
              <a:rPr lang="en-US" sz="1800" b="1" dirty="0">
                <a:solidFill>
                  <a:srgbClr val="90113E"/>
                </a:solidFill>
                <a:latin typeface="Calibri" pitchFamily="34" charset="0"/>
                <a:ea typeface="Calibri" pitchFamily="34" charset="-122"/>
                <a:cs typeface="Calibri" pitchFamily="34" charset="-120"/>
              </a:rPr>
              <a:t>Prove it</a:t>
            </a:r>
            <a:endParaRPr lang="en-US" sz="1100" dirty="0"/>
          </a:p>
        </p:txBody>
      </p:sp>
      <p:sp>
        <p:nvSpPr>
          <p:cNvPr id="7" name="Text 4"/>
          <p:cNvSpPr txBox="1"/>
          <p:nvPr/>
        </p:nvSpPr>
        <p:spPr>
          <a:xfrm>
            <a:off x="640080" y="2057400"/>
            <a:ext cx="2286000" cy="164592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1C1C1C"/>
                </a:solidFill>
                <a:latin typeface="Calibri" pitchFamily="34" charset="0"/>
                <a:ea typeface="Calibri" pitchFamily="34" charset="-122"/>
                <a:cs typeface="Calibri" pitchFamily="34" charset="-120"/>
              </a:rPr>
              <a:t>Finance and Internal Audit check the KES 45M estimate against real depot records</a:t>
            </a:r>
            <a:endParaRPr lang="en-US" sz="1150" dirty="0"/>
          </a:p>
          <a:p>
            <a:pPr marL="342900" indent="-342900">
              <a:spcAft>
                <a:spcPts val="500"/>
              </a:spcAft>
              <a:buSzPct val="100000"/>
              <a:buChar char="•"/>
            </a:pPr>
            <a:r>
              <a:rPr lang="en-US" sz="1150" dirty="0">
                <a:solidFill>
                  <a:srgbClr val="1C1C1C"/>
                </a:solidFill>
                <a:latin typeface="Calibri" pitchFamily="34" charset="0"/>
                <a:ea typeface="Calibri" pitchFamily="34" charset="-122"/>
                <a:cs typeface="Calibri" pitchFamily="34" charset="-120"/>
              </a:rPr>
              <a:t>Go live at the Nakuru depot (PS25)</a:t>
            </a:r>
            <a:endParaRPr lang="en-US" sz="1150" dirty="0"/>
          </a:p>
          <a:p>
            <a:pPr marL="342900" indent="-342900">
              <a:spcAft>
                <a:spcPts val="500"/>
              </a:spcAft>
              <a:buSzPct val="100000"/>
              <a:buChar char="•"/>
            </a:pPr>
            <a:r>
              <a:rPr lang="en-US" sz="1150" dirty="0">
                <a:solidFill>
                  <a:srgbClr val="1C1C1C"/>
                </a:solidFill>
                <a:latin typeface="Calibri" pitchFamily="34" charset="0"/>
                <a:ea typeface="Calibri" pitchFamily="34" charset="-122"/>
                <a:cs typeface="Calibri" pitchFamily="34" charset="-120"/>
              </a:rPr>
              <a:t>Release 1 of funding</a:t>
            </a:r>
            <a:endParaRPr lang="en-US" sz="1150" dirty="0"/>
          </a:p>
        </p:txBody>
      </p:sp>
      <p:sp>
        <p:nvSpPr>
          <p:cNvPr id="8" name="Shape 5"/>
          <p:cNvSpPr/>
          <p:nvPr/>
        </p:nvSpPr>
        <p:spPr>
          <a:xfrm>
            <a:off x="3268980" y="1280160"/>
            <a:ext cx="2606040" cy="2514600"/>
          </a:xfrm>
          <a:prstGeom prst="roundRect">
            <a:avLst>
              <a:gd name="adj" fmla="val 2909"/>
            </a:avLst>
          </a:prstGeom>
          <a:solidFill>
            <a:srgbClr val="FBEFEA"/>
          </a:solidFill>
          <a:ln w="12700">
            <a:solidFill>
              <a:srgbClr val="FBEFEA"/>
            </a:solidFill>
            <a:prstDash val="solid"/>
          </a:ln>
        </p:spPr>
      </p:sp>
      <p:sp>
        <p:nvSpPr>
          <p:cNvPr id="9" name="Shape 6"/>
          <p:cNvSpPr/>
          <p:nvPr/>
        </p:nvSpPr>
        <p:spPr>
          <a:xfrm>
            <a:off x="3451860" y="1417320"/>
            <a:ext cx="457200" cy="457200"/>
          </a:xfrm>
          <a:prstGeom prst="ellipse">
            <a:avLst/>
          </a:prstGeom>
          <a:solidFill>
            <a:srgbClr val="07777C"/>
          </a:solidFill>
          <a:ln w="12700">
            <a:solidFill>
              <a:srgbClr val="07777C"/>
            </a:solidFill>
            <a:prstDash val="solid"/>
          </a:ln>
        </p:spPr>
      </p:sp>
      <p:pic>
        <p:nvPicPr>
          <p:cNvPr id="10" name="Image 1" descr="preencoded.png">    </p:cNvPr>
          <p:cNvPicPr>
            <a:picLocks noChangeAspect="1"/>
          </p:cNvPicPr>
          <p:nvPr/>
        </p:nvPicPr>
        <p:blipFill>
          <a:blip r:embed="rId2"/>
          <a:stretch>
            <a:fillRect/>
          </a:stretch>
        </p:blipFill>
        <p:spPr>
          <a:xfrm>
            <a:off x="3570732" y="1536192"/>
            <a:ext cx="219456" cy="219456"/>
          </a:xfrm>
          <a:prstGeom prst="rect">
            <a:avLst/>
          </a:prstGeom>
        </p:spPr>
      </p:pic>
      <p:sp>
        <p:nvSpPr>
          <p:cNvPr id="11" name="Text 7"/>
          <p:cNvSpPr txBox="1"/>
          <p:nvPr/>
        </p:nvSpPr>
        <p:spPr>
          <a:xfrm>
            <a:off x="4018788" y="1371600"/>
            <a:ext cx="1783080" cy="566928"/>
          </a:xfrm>
          <a:prstGeom prst="rect">
            <a:avLst/>
          </a:prstGeom>
          <a:noFill/>
          <a:ln/>
        </p:spPr>
        <p:txBody>
          <a:bodyPr wrap="square" lIns="0" tIns="0" rIns="0" bIns="0" rtlCol="0" anchor="ctr"/>
          <a:lstStyle/>
          <a:p>
            <a:pPr indent="0" marL="0">
              <a:buNone/>
            </a:pPr>
            <a:r>
              <a:rPr lang="en-US" sz="1100" dirty="0">
                <a:solidFill>
                  <a:srgbClr val="5A5A5A"/>
                </a:solidFill>
                <a:latin typeface="Calibri" pitchFamily="34" charset="0"/>
                <a:ea typeface="Calibri" pitchFamily="34" charset="-122"/>
                <a:cs typeface="Calibri" pitchFamily="34" charset="-120"/>
              </a:rPr>
              <a:t>Months 3 to 6</a:t>
            </a:r>
            <a:endParaRPr lang="en-US" sz="1100" dirty="0"/>
          </a:p>
          <a:p>
            <a:pPr indent="0" marL="0">
              <a:buNone/>
            </a:pPr>
            <a:r>
              <a:rPr lang="en-US" sz="1800" b="1" dirty="0">
                <a:solidFill>
                  <a:srgbClr val="90113E"/>
                </a:solidFill>
                <a:latin typeface="Calibri" pitchFamily="34" charset="0"/>
                <a:ea typeface="Calibri" pitchFamily="34" charset="-122"/>
                <a:cs typeface="Calibri" pitchFamily="34" charset="-120"/>
              </a:rPr>
              <a:t>Extend it</a:t>
            </a:r>
            <a:endParaRPr lang="en-US" sz="1100" dirty="0"/>
          </a:p>
        </p:txBody>
      </p:sp>
      <p:sp>
        <p:nvSpPr>
          <p:cNvPr id="12" name="Text 8"/>
          <p:cNvSpPr txBox="1"/>
          <p:nvPr/>
        </p:nvSpPr>
        <p:spPr>
          <a:xfrm>
            <a:off x="3451860" y="2057400"/>
            <a:ext cx="2286000" cy="164592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1C1C1C"/>
                </a:solidFill>
                <a:latin typeface="Calibri" pitchFamily="34" charset="0"/>
                <a:ea typeface="Calibri" pitchFamily="34" charset="-122"/>
                <a:cs typeface="Calibri" pitchFamily="34" charset="-120"/>
              </a:rPr>
              <a:t>Add Eldoret (PS27) and Kisumu (PS28)</a:t>
            </a:r>
            <a:endParaRPr lang="en-US" sz="1150" dirty="0"/>
          </a:p>
          <a:p>
            <a:pPr marL="342900" indent="-342900">
              <a:spcAft>
                <a:spcPts val="500"/>
              </a:spcAft>
              <a:buSzPct val="100000"/>
              <a:buChar char="•"/>
            </a:pPr>
            <a:r>
              <a:rPr lang="en-US" sz="1150" dirty="0">
                <a:solidFill>
                  <a:srgbClr val="1C1C1C"/>
                </a:solidFill>
                <a:latin typeface="Calibri" pitchFamily="34" charset="0"/>
                <a:ea typeface="Calibri" pitchFamily="34" charset="-122"/>
                <a:cs typeface="Calibri" pitchFamily="34" charset="-120"/>
              </a:rPr>
              <a:t>Connect KRA cargo tracking and EPRA feeds</a:t>
            </a:r>
            <a:endParaRPr lang="en-US" sz="1150" dirty="0"/>
          </a:p>
          <a:p>
            <a:pPr marL="342900" indent="-342900">
              <a:spcAft>
                <a:spcPts val="500"/>
              </a:spcAft>
              <a:buSzPct val="100000"/>
              <a:buChar char="•"/>
            </a:pPr>
            <a:r>
              <a:rPr lang="en-US" sz="1150" dirty="0">
                <a:solidFill>
                  <a:srgbClr val="1C1C1C"/>
                </a:solidFill>
                <a:latin typeface="Calibri" pitchFamily="34" charset="0"/>
                <a:ea typeface="Calibri" pitchFamily="34" charset="-122"/>
                <a:cs typeface="Calibri" pitchFamily="34" charset="-120"/>
              </a:rPr>
              <a:t>Scope the live SAP link with KPC IT</a:t>
            </a:r>
            <a:endParaRPr lang="en-US" sz="1150" dirty="0"/>
          </a:p>
        </p:txBody>
      </p:sp>
      <p:sp>
        <p:nvSpPr>
          <p:cNvPr id="13" name="Shape 9"/>
          <p:cNvSpPr/>
          <p:nvPr/>
        </p:nvSpPr>
        <p:spPr>
          <a:xfrm>
            <a:off x="6080760" y="1280160"/>
            <a:ext cx="2606040" cy="2514600"/>
          </a:xfrm>
          <a:prstGeom prst="roundRect">
            <a:avLst>
              <a:gd name="adj" fmla="val 2909"/>
            </a:avLst>
          </a:prstGeom>
          <a:solidFill>
            <a:srgbClr val="FBEFEA"/>
          </a:solidFill>
          <a:ln w="12700">
            <a:solidFill>
              <a:srgbClr val="FBEFEA"/>
            </a:solidFill>
            <a:prstDash val="solid"/>
          </a:ln>
        </p:spPr>
      </p:sp>
      <p:sp>
        <p:nvSpPr>
          <p:cNvPr id="14" name="Shape 10"/>
          <p:cNvSpPr/>
          <p:nvPr/>
        </p:nvSpPr>
        <p:spPr>
          <a:xfrm>
            <a:off x="6263640" y="1417320"/>
            <a:ext cx="457200" cy="457200"/>
          </a:xfrm>
          <a:prstGeom prst="ellipse">
            <a:avLst/>
          </a:prstGeom>
          <a:solidFill>
            <a:srgbClr val="1C1C1C"/>
          </a:solidFill>
          <a:ln w="12700">
            <a:solidFill>
              <a:srgbClr val="1C1C1C"/>
            </a:solidFill>
            <a:prstDash val="solid"/>
          </a:ln>
        </p:spPr>
      </p:sp>
      <p:pic>
        <p:nvPicPr>
          <p:cNvPr id="15" name="Image 2" descr="preencoded.png">    </p:cNvPr>
          <p:cNvPicPr>
            <a:picLocks noChangeAspect="1"/>
          </p:cNvPicPr>
          <p:nvPr/>
        </p:nvPicPr>
        <p:blipFill>
          <a:blip r:embed="rId3"/>
          <a:stretch>
            <a:fillRect/>
          </a:stretch>
        </p:blipFill>
        <p:spPr>
          <a:xfrm>
            <a:off x="6382512" y="1536192"/>
            <a:ext cx="219456" cy="219456"/>
          </a:xfrm>
          <a:prstGeom prst="rect">
            <a:avLst/>
          </a:prstGeom>
        </p:spPr>
      </p:pic>
      <p:sp>
        <p:nvSpPr>
          <p:cNvPr id="16" name="Text 11"/>
          <p:cNvSpPr txBox="1"/>
          <p:nvPr/>
        </p:nvSpPr>
        <p:spPr>
          <a:xfrm>
            <a:off x="6830568" y="1371600"/>
            <a:ext cx="1783080" cy="566928"/>
          </a:xfrm>
          <a:prstGeom prst="rect">
            <a:avLst/>
          </a:prstGeom>
          <a:noFill/>
          <a:ln/>
        </p:spPr>
        <p:txBody>
          <a:bodyPr wrap="square" lIns="0" tIns="0" rIns="0" bIns="0" rtlCol="0" anchor="ctr"/>
          <a:lstStyle/>
          <a:p>
            <a:pPr indent="0" marL="0">
              <a:buNone/>
            </a:pPr>
            <a:r>
              <a:rPr lang="en-US" sz="1100" dirty="0">
                <a:solidFill>
                  <a:srgbClr val="5A5A5A"/>
                </a:solidFill>
                <a:latin typeface="Calibri" pitchFamily="34" charset="0"/>
                <a:ea typeface="Calibri" pitchFamily="34" charset="-122"/>
                <a:cs typeface="Calibri" pitchFamily="34" charset="-120"/>
              </a:rPr>
              <a:t>Months 6 to 12</a:t>
            </a:r>
            <a:endParaRPr lang="en-US" sz="1100" dirty="0"/>
          </a:p>
          <a:p>
            <a:pPr indent="0" marL="0">
              <a:buNone/>
            </a:pPr>
            <a:r>
              <a:rPr lang="en-US" sz="1800" b="1" dirty="0">
                <a:solidFill>
                  <a:srgbClr val="90113E"/>
                </a:solidFill>
                <a:latin typeface="Calibri" pitchFamily="34" charset="0"/>
                <a:ea typeface="Calibri" pitchFamily="34" charset="-122"/>
                <a:cs typeface="Calibri" pitchFamily="34" charset="-120"/>
              </a:rPr>
              <a:t>Scale it</a:t>
            </a:r>
            <a:endParaRPr lang="en-US" sz="1100" dirty="0"/>
          </a:p>
        </p:txBody>
      </p:sp>
      <p:sp>
        <p:nvSpPr>
          <p:cNvPr id="17" name="Text 12"/>
          <p:cNvSpPr txBox="1"/>
          <p:nvPr/>
        </p:nvSpPr>
        <p:spPr>
          <a:xfrm>
            <a:off x="6263640" y="2057400"/>
            <a:ext cx="2286000" cy="164592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1C1C1C"/>
                </a:solidFill>
                <a:latin typeface="Calibri" pitchFamily="34" charset="0"/>
                <a:ea typeface="Calibri" pitchFamily="34" charset="-122"/>
                <a:cs typeface="Calibri" pitchFamily="34" charset="-120"/>
              </a:rPr>
              <a:t>Bring all 40+ oil marketing companies onto the live tariff engine</a:t>
            </a:r>
            <a:endParaRPr lang="en-US" sz="1150" dirty="0"/>
          </a:p>
          <a:p>
            <a:pPr marL="342900" indent="-342900">
              <a:spcAft>
                <a:spcPts val="500"/>
              </a:spcAft>
              <a:buSzPct val="100000"/>
              <a:buChar char="•"/>
            </a:pPr>
            <a:r>
              <a:rPr lang="en-US" sz="1150" dirty="0">
                <a:solidFill>
                  <a:srgbClr val="1C1C1C"/>
                </a:solidFill>
                <a:latin typeface="Calibri" pitchFamily="34" charset="0"/>
                <a:ea typeface="Calibri" pitchFamily="34" charset="-122"/>
                <a:cs typeface="Calibri" pitchFamily="34" charset="-120"/>
              </a:rPr>
              <a:t>Report recovered revenue to Finance monthly</a:t>
            </a:r>
            <a:endParaRPr lang="en-US" sz="1150" dirty="0"/>
          </a:p>
          <a:p>
            <a:pPr marL="342900" indent="-342900">
              <a:spcAft>
                <a:spcPts val="500"/>
              </a:spcAft>
              <a:buSzPct val="100000"/>
              <a:buChar char="•"/>
            </a:pPr>
            <a:r>
              <a:rPr lang="en-US" sz="1150" dirty="0">
                <a:solidFill>
                  <a:srgbClr val="1C1C1C"/>
                </a:solidFill>
                <a:latin typeface="Calibri" pitchFamily="34" charset="0"/>
                <a:ea typeface="Calibri" pitchFamily="34" charset="-122"/>
                <a:cs typeface="Calibri" pitchFamily="34" charset="-120"/>
              </a:rPr>
              <a:t>Review results and plan the next phase</a:t>
            </a:r>
            <a:endParaRPr lang="en-US" sz="1150" dirty="0"/>
          </a:p>
        </p:txBody>
      </p:sp>
      <p:sp>
        <p:nvSpPr>
          <p:cNvPr id="18" name="Shape 13"/>
          <p:cNvSpPr/>
          <p:nvPr/>
        </p:nvSpPr>
        <p:spPr>
          <a:xfrm>
            <a:off x="457200" y="3977640"/>
            <a:ext cx="8229600" cy="548640"/>
          </a:xfrm>
          <a:prstGeom prst="roundRect">
            <a:avLst>
              <a:gd name="adj" fmla="val 13333"/>
            </a:avLst>
          </a:prstGeom>
          <a:solidFill>
            <a:srgbClr val="07777C"/>
          </a:solidFill>
          <a:ln w="12700">
            <a:solidFill>
              <a:srgbClr val="07777C"/>
            </a:solidFill>
            <a:prstDash val="solid"/>
          </a:ln>
        </p:spPr>
      </p:sp>
      <p:sp>
        <p:nvSpPr>
          <p:cNvPr id="19" name="Text 14"/>
          <p:cNvSpPr txBox="1"/>
          <p:nvPr/>
        </p:nvSpPr>
        <p:spPr>
          <a:xfrm>
            <a:off x="640080" y="397764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Decision gate at day 60: Release 2 happens only if Finance confirms savings of at least KES 7.75M a year.</a:t>
            </a:r>
            <a:endParaRPr lang="en-US" sz="1400" dirty="0"/>
          </a:p>
        </p:txBody>
      </p:sp>
      <p:sp>
        <p:nvSpPr>
          <p:cNvPr id="20" name="Text 15"/>
          <p:cNvSpPr txBox="1"/>
          <p:nvPr/>
        </p:nvSpPr>
        <p:spPr>
          <a:xfrm>
            <a:off x="457200" y="4572000"/>
            <a:ext cx="8229600" cy="228600"/>
          </a:xfrm>
          <a:prstGeom prst="rect">
            <a:avLst/>
          </a:prstGeom>
          <a:noFill/>
          <a:ln/>
        </p:spPr>
        <p:txBody>
          <a:bodyPr wrap="square" lIns="0" tIns="0" rIns="0" bIns="0" rtlCol="0" anchor="ctr"/>
          <a:lstStyle/>
          <a:p>
            <a:pPr indent="0" marL="0">
              <a:buNone/>
            </a:pPr>
            <a:r>
              <a:rPr lang="en-US" sz="1000" dirty="0">
                <a:solidFill>
                  <a:srgbClr val="5A5A5A"/>
                </a:solidFill>
                <a:latin typeface="Calibri" pitchFamily="34" charset="0"/>
                <a:ea typeface="Calibri" pitchFamily="34" charset="-122"/>
                <a:cs typeface="Calibri" pitchFamily="34" charset="-120"/>
              </a:rPr>
              <a:t>Proposed timeline; dates depend on Board approval and access to depot data.</a:t>
            </a:r>
            <a:endParaRPr lang="en-US" sz="1000" dirty="0"/>
          </a:p>
        </p:txBody>
      </p:sp>
      <p:sp>
        <p:nvSpPr>
          <p:cNvPr id="21" name="Text 16"/>
          <p:cNvSpPr txBox="1"/>
          <p:nvPr/>
        </p:nvSpPr>
        <p:spPr>
          <a:xfrm>
            <a:off x="457200" y="4828032"/>
            <a:ext cx="5486400" cy="201168"/>
          </a:xfrm>
          <a:prstGeom prst="rect">
            <a:avLst/>
          </a:prstGeom>
          <a:noFill/>
          <a:ln/>
        </p:spPr>
        <p:txBody>
          <a:bodyPr wrap="square" lIns="0" tIns="0" rIns="0" bIns="0" rtlCol="0" anchor="ctr"/>
          <a:lstStyle/>
          <a:p>
            <a:pPr indent="0" marL="0">
              <a:buNone/>
            </a:pPr>
            <a:r>
              <a:rPr lang="en-US" sz="900" dirty="0">
                <a:solidFill>
                  <a:srgbClr val="8C8C8C"/>
                </a:solidFill>
                <a:latin typeface="Calibri" pitchFamily="34" charset="0"/>
                <a:ea typeface="Calibri" pitchFamily="34" charset="-122"/>
                <a:cs typeface="Calibri" pitchFamily="34" charset="-120"/>
              </a:rPr>
              <a:t>KPC Revenue Assurance  |  Board Strategy Pitch</a:t>
            </a:r>
            <a:endParaRPr lang="en-US" sz="900" dirty="0"/>
          </a:p>
        </p:txBody>
      </p:sp>
      <p:sp>
        <p:nvSpPr>
          <p:cNvPr id="22" name="Text 17"/>
          <p:cNvSpPr txBox="1"/>
          <p:nvPr/>
        </p:nvSpPr>
        <p:spPr>
          <a:xfrm>
            <a:off x="8229600" y="4828032"/>
            <a:ext cx="457200" cy="201168"/>
          </a:xfrm>
          <a:prstGeom prst="rect">
            <a:avLst/>
          </a:prstGeom>
          <a:noFill/>
          <a:ln/>
        </p:spPr>
        <p:txBody>
          <a:bodyPr wrap="square" lIns="0" tIns="0" rIns="0" bIns="0" rtlCol="0" anchor="ctr"/>
          <a:lstStyle/>
          <a:p>
            <a:pPr algn="r" indent="0" marL="0">
              <a:buNone/>
            </a:pPr>
            <a:r>
              <a:rPr lang="en-US" sz="900" dirty="0">
                <a:solidFill>
                  <a:srgbClr val="8C8C8C"/>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8229600" cy="731520"/>
          </a:xfrm>
          <a:prstGeom prst="rect">
            <a:avLst/>
          </a:prstGeom>
          <a:noFill/>
          <a:ln/>
        </p:spPr>
        <p:txBody>
          <a:bodyPr wrap="square" lIns="0" tIns="0" rIns="0" bIns="0" rtlCol="0" anchor="t"/>
          <a:lstStyle/>
          <a:p>
            <a:pPr indent="0" marL="0">
              <a:buNone/>
            </a:pPr>
            <a:r>
              <a:rPr lang="en-US" sz="3000" b="1" dirty="0">
                <a:solidFill>
                  <a:srgbClr val="1C1C1C"/>
                </a:solidFill>
                <a:latin typeface="Calibri" pitchFamily="34" charset="0"/>
                <a:ea typeface="Calibri" pitchFamily="34" charset="-122"/>
                <a:cs typeface="Calibri" pitchFamily="34" charset="-120"/>
              </a:rPr>
              <a:t>Two risks, and how we handle them</a:t>
            </a:r>
            <a:endParaRPr lang="en-US" sz="3000" dirty="0"/>
          </a:p>
        </p:txBody>
      </p:sp>
      <p:sp>
        <p:nvSpPr>
          <p:cNvPr id="3" name="Shape 1"/>
          <p:cNvSpPr/>
          <p:nvPr/>
        </p:nvSpPr>
        <p:spPr>
          <a:xfrm>
            <a:off x="457200" y="1234440"/>
            <a:ext cx="4023360" cy="2331720"/>
          </a:xfrm>
          <a:prstGeom prst="roundRect">
            <a:avLst>
              <a:gd name="adj" fmla="val 3137"/>
            </a:avLst>
          </a:prstGeom>
          <a:solidFill>
            <a:srgbClr val="FBEFEA"/>
          </a:solidFill>
          <a:ln w="12700">
            <a:solidFill>
              <a:srgbClr val="FBEFEA"/>
            </a:solidFill>
            <a:prstDash val="solid"/>
          </a:ln>
        </p:spPr>
      </p:sp>
      <p:sp>
        <p:nvSpPr>
          <p:cNvPr id="4" name="Shape 2"/>
          <p:cNvSpPr/>
          <p:nvPr/>
        </p:nvSpPr>
        <p:spPr>
          <a:xfrm>
            <a:off x="640080" y="1371600"/>
            <a:ext cx="502920" cy="502920"/>
          </a:xfrm>
          <a:prstGeom prst="ellipse">
            <a:avLst/>
          </a:prstGeom>
          <a:solidFill>
            <a:srgbClr val="90113E"/>
          </a:solidFill>
          <a:ln w="12700">
            <a:solidFill>
              <a:srgbClr val="90113E"/>
            </a:solidFill>
            <a:prstDash val="solid"/>
          </a:ln>
        </p:spPr>
      </p:sp>
      <p:pic>
        <p:nvPicPr>
          <p:cNvPr id="5" name="Image 0" descr="preencoded.png">    </p:cNvPr>
          <p:cNvPicPr>
            <a:picLocks noChangeAspect="1"/>
          </p:cNvPicPr>
          <p:nvPr/>
        </p:nvPicPr>
        <p:blipFill>
          <a:blip r:embed="rId1"/>
          <a:stretch>
            <a:fillRect/>
          </a:stretch>
        </p:blipFill>
        <p:spPr>
          <a:xfrm>
            <a:off x="770839" y="1502359"/>
            <a:ext cx="241402" cy="241402"/>
          </a:xfrm>
          <a:prstGeom prst="rect">
            <a:avLst/>
          </a:prstGeom>
        </p:spPr>
      </p:pic>
      <p:sp>
        <p:nvSpPr>
          <p:cNvPr id="6" name="Text 3"/>
          <p:cNvSpPr txBox="1"/>
          <p:nvPr/>
        </p:nvSpPr>
        <p:spPr>
          <a:xfrm>
            <a:off x="1280160" y="1371600"/>
            <a:ext cx="3108960" cy="548640"/>
          </a:xfrm>
          <a:prstGeom prst="rect">
            <a:avLst/>
          </a:prstGeom>
          <a:noFill/>
          <a:ln/>
        </p:spPr>
        <p:txBody>
          <a:bodyPr wrap="square" lIns="0" tIns="0" rIns="0" bIns="0" rtlCol="0" anchor="ctr"/>
          <a:lstStyle/>
          <a:p>
            <a:pPr indent="0" marL="0">
              <a:buNone/>
            </a:pPr>
            <a:r>
              <a:rPr lang="en-US" sz="1500" b="1" dirty="0">
                <a:solidFill>
                  <a:srgbClr val="90113E"/>
                </a:solidFill>
                <a:latin typeface="Calibri" pitchFamily="34" charset="0"/>
                <a:ea typeface="Calibri" pitchFamily="34" charset="-122"/>
                <a:cs typeface="Calibri" pitchFamily="34" charset="-120"/>
              </a:rPr>
              <a:t>Risk 1: The savings estimate is not yet proven</a:t>
            </a:r>
            <a:endParaRPr lang="en-US" sz="1500" dirty="0"/>
          </a:p>
        </p:txBody>
      </p:sp>
      <p:sp>
        <p:nvSpPr>
          <p:cNvPr id="7" name="Text 4"/>
          <p:cNvSpPr txBox="1"/>
          <p:nvPr/>
        </p:nvSpPr>
        <p:spPr>
          <a:xfrm>
            <a:off x="685800" y="2011680"/>
            <a:ext cx="3566160" cy="594360"/>
          </a:xfrm>
          <a:prstGeom prst="rect">
            <a:avLst/>
          </a:prstGeom>
          <a:noFill/>
          <a:ln/>
        </p:spPr>
        <p:txBody>
          <a:bodyPr wrap="square" lIns="0" tIns="0" rIns="0" bIns="0" rtlCol="0" anchor="t"/>
          <a:lstStyle/>
          <a:p>
            <a:pPr indent="0" marL="0">
              <a:buNone/>
            </a:pPr>
            <a:r>
              <a:rPr lang="en-US" sz="1200" dirty="0">
                <a:solidFill>
                  <a:srgbClr val="1C1C1C"/>
                </a:solidFill>
                <a:latin typeface="Calibri" pitchFamily="34" charset="0"/>
                <a:ea typeface="Calibri" pitchFamily="34" charset="-122"/>
                <a:cs typeface="Calibri" pitchFamily="34" charset="-120"/>
              </a:rPr>
              <a:t>The KES 45M figure is modelled, and the demo runs on sample data.</a:t>
            </a:r>
            <a:endParaRPr lang="en-US" sz="1200" dirty="0"/>
          </a:p>
        </p:txBody>
      </p:sp>
      <p:sp>
        <p:nvSpPr>
          <p:cNvPr id="8" name="Text 5"/>
          <p:cNvSpPr txBox="1"/>
          <p:nvPr/>
        </p:nvSpPr>
        <p:spPr>
          <a:xfrm>
            <a:off x="685800" y="2651760"/>
            <a:ext cx="3566160" cy="868680"/>
          </a:xfrm>
          <a:prstGeom prst="rect">
            <a:avLst/>
          </a:prstGeom>
          <a:noFill/>
          <a:ln/>
        </p:spPr>
        <p:txBody>
          <a:bodyPr wrap="square" lIns="0" tIns="0" rIns="0" bIns="0" rtlCol="0" anchor="t"/>
          <a:lstStyle/>
          <a:p>
            <a:pPr indent="0" marL="0">
              <a:buNone/>
            </a:pPr>
            <a:r>
              <a:rPr lang="en-US" sz="1200" b="1" dirty="0">
                <a:solidFill>
                  <a:srgbClr val="07777C"/>
                </a:solidFill>
                <a:latin typeface="Calibri" pitchFamily="34" charset="0"/>
                <a:ea typeface="Calibri" pitchFamily="34" charset="-122"/>
                <a:cs typeface="Calibri" pitchFamily="34" charset="-120"/>
              </a:rPr>
              <a:t>Our response: </a:t>
            </a:r>
            <a:pPr indent="0" marL="0">
              <a:buNone/>
            </a:pPr>
            <a:r>
              <a:rPr lang="en-US" sz="1200" dirty="0">
                <a:solidFill>
                  <a:srgbClr val="1C1C1C"/>
                </a:solidFill>
                <a:latin typeface="Calibri" pitchFamily="34" charset="0"/>
                <a:ea typeface="Calibri" pitchFamily="34" charset="-122"/>
                <a:cs typeface="Calibri" pitchFamily="34" charset="-120"/>
              </a:rPr>
              <a:t>Finance and Internal Audit test it against real depot records before the main funding is released. We plan around the cautious case.</a:t>
            </a:r>
            <a:endParaRPr lang="en-US" sz="1200" dirty="0"/>
          </a:p>
        </p:txBody>
      </p:sp>
      <p:sp>
        <p:nvSpPr>
          <p:cNvPr id="9" name="Shape 6"/>
          <p:cNvSpPr/>
          <p:nvPr/>
        </p:nvSpPr>
        <p:spPr>
          <a:xfrm>
            <a:off x="4663440" y="1234440"/>
            <a:ext cx="4023360" cy="2331720"/>
          </a:xfrm>
          <a:prstGeom prst="roundRect">
            <a:avLst>
              <a:gd name="adj" fmla="val 3137"/>
            </a:avLst>
          </a:prstGeom>
          <a:solidFill>
            <a:srgbClr val="FBEFEA"/>
          </a:solidFill>
          <a:ln w="12700">
            <a:solidFill>
              <a:srgbClr val="FBEFEA"/>
            </a:solidFill>
            <a:prstDash val="solid"/>
          </a:ln>
        </p:spPr>
      </p:sp>
      <p:sp>
        <p:nvSpPr>
          <p:cNvPr id="10" name="Shape 7"/>
          <p:cNvSpPr/>
          <p:nvPr/>
        </p:nvSpPr>
        <p:spPr>
          <a:xfrm>
            <a:off x="4846320" y="1371600"/>
            <a:ext cx="502920" cy="502920"/>
          </a:xfrm>
          <a:prstGeom prst="ellipse">
            <a:avLst/>
          </a:prstGeom>
          <a:solidFill>
            <a:srgbClr val="90113E"/>
          </a:solidFill>
          <a:ln w="12700">
            <a:solidFill>
              <a:srgbClr val="90113E"/>
            </a:solidFill>
            <a:prstDash val="solid"/>
          </a:ln>
        </p:spPr>
      </p:sp>
      <p:pic>
        <p:nvPicPr>
          <p:cNvPr id="11" name="Image 1" descr="preencoded.png">    </p:cNvPr>
          <p:cNvPicPr>
            <a:picLocks noChangeAspect="1"/>
          </p:cNvPicPr>
          <p:nvPr/>
        </p:nvPicPr>
        <p:blipFill>
          <a:blip r:embed="rId2"/>
          <a:stretch>
            <a:fillRect/>
          </a:stretch>
        </p:blipFill>
        <p:spPr>
          <a:xfrm>
            <a:off x="4977079" y="1502359"/>
            <a:ext cx="241402" cy="241402"/>
          </a:xfrm>
          <a:prstGeom prst="rect">
            <a:avLst/>
          </a:prstGeom>
        </p:spPr>
      </p:pic>
      <p:sp>
        <p:nvSpPr>
          <p:cNvPr id="12" name="Text 8"/>
          <p:cNvSpPr txBox="1"/>
          <p:nvPr/>
        </p:nvSpPr>
        <p:spPr>
          <a:xfrm>
            <a:off x="5486400" y="1371600"/>
            <a:ext cx="3108960" cy="548640"/>
          </a:xfrm>
          <a:prstGeom prst="rect">
            <a:avLst/>
          </a:prstGeom>
          <a:noFill/>
          <a:ln/>
        </p:spPr>
        <p:txBody>
          <a:bodyPr wrap="square" lIns="0" tIns="0" rIns="0" bIns="0" rtlCol="0" anchor="ctr"/>
          <a:lstStyle/>
          <a:p>
            <a:pPr indent="0" marL="0">
              <a:buNone/>
            </a:pPr>
            <a:r>
              <a:rPr lang="en-US" sz="1500" b="1" dirty="0">
                <a:solidFill>
                  <a:srgbClr val="90113E"/>
                </a:solidFill>
                <a:latin typeface="Calibri" pitchFamily="34" charset="0"/>
                <a:ea typeface="Calibri" pitchFamily="34" charset="-122"/>
                <a:cs typeface="Calibri" pitchFamily="34" charset="-120"/>
              </a:rPr>
              <a:t>Risk 2: Depot data and customer acceptance</a:t>
            </a:r>
            <a:endParaRPr lang="en-US" sz="1500" dirty="0"/>
          </a:p>
        </p:txBody>
      </p:sp>
      <p:sp>
        <p:nvSpPr>
          <p:cNvPr id="13" name="Text 9"/>
          <p:cNvSpPr txBox="1"/>
          <p:nvPr/>
        </p:nvSpPr>
        <p:spPr>
          <a:xfrm>
            <a:off x="4892040" y="2011680"/>
            <a:ext cx="3566160" cy="594360"/>
          </a:xfrm>
          <a:prstGeom prst="rect">
            <a:avLst/>
          </a:prstGeom>
          <a:noFill/>
          <a:ln/>
        </p:spPr>
        <p:txBody>
          <a:bodyPr wrap="square" lIns="0" tIns="0" rIns="0" bIns="0" rtlCol="0" anchor="t"/>
          <a:lstStyle/>
          <a:p>
            <a:pPr indent="0" marL="0">
              <a:buNone/>
            </a:pPr>
            <a:r>
              <a:rPr lang="en-US" sz="1200" dirty="0">
                <a:solidFill>
                  <a:srgbClr val="1C1C1C"/>
                </a:solidFill>
                <a:latin typeface="Calibri" pitchFamily="34" charset="0"/>
                <a:ea typeface="Calibri" pitchFamily="34" charset="-122"/>
                <a:cs typeface="Calibri" pitchFamily="34" charset="-120"/>
              </a:rPr>
              <a:t>Gate and weighbridge records may arrive late or incomplete, and some customers may resist automatic billing.</a:t>
            </a:r>
            <a:endParaRPr lang="en-US" sz="1200" dirty="0"/>
          </a:p>
        </p:txBody>
      </p:sp>
      <p:sp>
        <p:nvSpPr>
          <p:cNvPr id="14" name="Text 10"/>
          <p:cNvSpPr txBox="1"/>
          <p:nvPr/>
        </p:nvSpPr>
        <p:spPr>
          <a:xfrm>
            <a:off x="4892040" y="2651760"/>
            <a:ext cx="3566160" cy="868680"/>
          </a:xfrm>
          <a:prstGeom prst="rect">
            <a:avLst/>
          </a:prstGeom>
          <a:noFill/>
          <a:ln/>
        </p:spPr>
        <p:txBody>
          <a:bodyPr wrap="square" lIns="0" tIns="0" rIns="0" bIns="0" rtlCol="0" anchor="t"/>
          <a:lstStyle/>
          <a:p>
            <a:pPr indent="0" marL="0">
              <a:buNone/>
            </a:pPr>
            <a:r>
              <a:rPr lang="en-US" sz="1200" b="1" dirty="0">
                <a:solidFill>
                  <a:srgbClr val="07777C"/>
                </a:solidFill>
                <a:latin typeface="Calibri" pitchFamily="34" charset="0"/>
                <a:ea typeface="Calibri" pitchFamily="34" charset="-122"/>
                <a:cs typeface="Calibri" pitchFamily="34" charset="-120"/>
              </a:rPr>
              <a:t>Our response: </a:t>
            </a:r>
            <a:pPr indent="0" marL="0">
              <a:buNone/>
            </a:pPr>
            <a:r>
              <a:rPr lang="en-US" sz="1200" dirty="0">
                <a:solidFill>
                  <a:srgbClr val="1C1C1C"/>
                </a:solidFill>
                <a:latin typeface="Calibri" pitchFamily="34" charset="0"/>
                <a:ea typeface="Calibri" pitchFamily="34" charset="-122"/>
                <a:cs typeface="Calibri" pitchFamily="34" charset="-120"/>
              </a:rPr>
              <a:t>Roll out one depot at a time, send every unusual charge to a person, and give customers the full record behind each charge.</a:t>
            </a:r>
            <a:endParaRPr lang="en-US" sz="1200" dirty="0"/>
          </a:p>
        </p:txBody>
      </p:sp>
      <p:sp>
        <p:nvSpPr>
          <p:cNvPr id="15" name="Shape 11"/>
          <p:cNvSpPr/>
          <p:nvPr/>
        </p:nvSpPr>
        <p:spPr>
          <a:xfrm>
            <a:off x="457200" y="3794760"/>
            <a:ext cx="8229600" cy="731520"/>
          </a:xfrm>
          <a:prstGeom prst="roundRect">
            <a:avLst>
              <a:gd name="adj" fmla="val 10000"/>
            </a:avLst>
          </a:prstGeom>
          <a:solidFill>
            <a:srgbClr val="FFFFFF"/>
          </a:solidFill>
          <a:ln w="15875">
            <a:solidFill>
              <a:srgbClr val="90113E"/>
            </a:solidFill>
            <a:prstDash val="solid"/>
          </a:ln>
        </p:spPr>
      </p:sp>
      <p:sp>
        <p:nvSpPr>
          <p:cNvPr id="16" name="Text 12"/>
          <p:cNvSpPr txBox="1"/>
          <p:nvPr/>
        </p:nvSpPr>
        <p:spPr>
          <a:xfrm>
            <a:off x="640080" y="3794760"/>
            <a:ext cx="7863840" cy="731520"/>
          </a:xfrm>
          <a:prstGeom prst="rect">
            <a:avLst/>
          </a:prstGeom>
          <a:noFill/>
          <a:ln/>
        </p:spPr>
        <p:txBody>
          <a:bodyPr wrap="square" lIns="0" tIns="0" rIns="0" bIns="0" rtlCol="0" anchor="ctr"/>
          <a:lstStyle/>
          <a:p>
            <a:pPr indent="0" marL="0">
              <a:buNone/>
            </a:pPr>
            <a:r>
              <a:rPr lang="en-US" sz="1300" b="1" dirty="0">
                <a:solidFill>
                  <a:srgbClr val="90113E"/>
                </a:solidFill>
                <a:latin typeface="Calibri" pitchFamily="34" charset="0"/>
                <a:ea typeface="Calibri" pitchFamily="34" charset="-122"/>
                <a:cs typeface="Calibri" pitchFamily="34" charset="-120"/>
              </a:rPr>
              <a:t>What we are not claiming: </a:t>
            </a:r>
            <a:pPr indent="0" marL="0">
              <a:buNone/>
            </a:pPr>
            <a:r>
              <a:rPr lang="en-US" sz="1300" dirty="0">
                <a:solidFill>
                  <a:srgbClr val="1C1C1C"/>
                </a:solidFill>
                <a:latin typeface="Calibri" pitchFamily="34" charset="0"/>
                <a:ea typeface="Calibri" pitchFamily="34" charset="-122"/>
                <a:cs typeface="Calibri" pitchFamily="34" charset="-120"/>
              </a:rPr>
              <a:t>the demo figures are illustrative, the SAP push is simulated in the demo, and the KES 12M and KES 3.5M costs are planning estimates awaiting quotes.</a:t>
            </a:r>
            <a:endParaRPr lang="en-US" sz="1300" dirty="0"/>
          </a:p>
        </p:txBody>
      </p:sp>
      <p:sp>
        <p:nvSpPr>
          <p:cNvPr id="17" name="Text 13"/>
          <p:cNvSpPr txBox="1"/>
          <p:nvPr/>
        </p:nvSpPr>
        <p:spPr>
          <a:xfrm>
            <a:off x="457200" y="4828032"/>
            <a:ext cx="5486400" cy="201168"/>
          </a:xfrm>
          <a:prstGeom prst="rect">
            <a:avLst/>
          </a:prstGeom>
          <a:noFill/>
          <a:ln/>
        </p:spPr>
        <p:txBody>
          <a:bodyPr wrap="square" lIns="0" tIns="0" rIns="0" bIns="0" rtlCol="0" anchor="ctr"/>
          <a:lstStyle/>
          <a:p>
            <a:pPr indent="0" marL="0">
              <a:buNone/>
            </a:pPr>
            <a:r>
              <a:rPr lang="en-US" sz="900" dirty="0">
                <a:solidFill>
                  <a:srgbClr val="8C8C8C"/>
                </a:solidFill>
                <a:latin typeface="Calibri" pitchFamily="34" charset="0"/>
                <a:ea typeface="Calibri" pitchFamily="34" charset="-122"/>
                <a:cs typeface="Calibri" pitchFamily="34" charset="-120"/>
              </a:rPr>
              <a:t>KPC Revenue Assurance  |  Board Strategy Pitch</a:t>
            </a:r>
            <a:endParaRPr lang="en-US" sz="900" dirty="0"/>
          </a:p>
        </p:txBody>
      </p:sp>
      <p:sp>
        <p:nvSpPr>
          <p:cNvPr id="18" name="Text 14"/>
          <p:cNvSpPr txBox="1"/>
          <p:nvPr/>
        </p:nvSpPr>
        <p:spPr>
          <a:xfrm>
            <a:off x="8229600" y="4828032"/>
            <a:ext cx="457200" cy="201168"/>
          </a:xfrm>
          <a:prstGeom prst="rect">
            <a:avLst/>
          </a:prstGeom>
          <a:noFill/>
          <a:ln/>
        </p:spPr>
        <p:txBody>
          <a:bodyPr wrap="square" lIns="0" tIns="0" rIns="0" bIns="0" rtlCol="0" anchor="ctr"/>
          <a:lstStyle/>
          <a:p>
            <a:pPr algn="r" indent="0" marL="0">
              <a:buNone/>
            </a:pPr>
            <a:r>
              <a:rPr lang="en-US" sz="900" dirty="0">
                <a:solidFill>
                  <a:srgbClr val="8C8C8C"/>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90113E"/>
        </a:solidFill>
      </p:bgPr>
    </p:bg>
    <p:spTree>
      <p:nvGrpSpPr>
        <p:cNvPr id="1" name=""/>
        <p:cNvGrpSpPr/>
        <p:nvPr/>
      </p:nvGrpSpPr>
      <p:grpSpPr>
        <a:xfrm>
          <a:off x="0" y="0"/>
          <a:ext cx="0" cy="0"/>
          <a:chOff x="0" y="0"/>
          <a:chExt cx="0" cy="0"/>
        </a:xfrm>
      </p:grpSpPr>
      <p:sp>
        <p:nvSpPr>
          <p:cNvPr id="2" name="Text 0"/>
          <p:cNvSpPr txBox="1"/>
          <p:nvPr/>
        </p:nvSpPr>
        <p:spPr>
          <a:xfrm>
            <a:off x="548640" y="457200"/>
            <a:ext cx="8046720" cy="82296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Recommendation: GO</a:t>
            </a:r>
            <a:endParaRPr lang="en-US" sz="4000" dirty="0"/>
          </a:p>
        </p:txBody>
      </p:sp>
      <p:sp>
        <p:nvSpPr>
          <p:cNvPr id="3" name="Text 1"/>
          <p:cNvSpPr txBox="1"/>
          <p:nvPr/>
        </p:nvSpPr>
        <p:spPr>
          <a:xfrm>
            <a:off x="548640" y="1371600"/>
            <a:ext cx="4937760" cy="640080"/>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Approve Phase 2 funding of KES 12M (planning estimate), released in two steps:</a:t>
            </a:r>
            <a:endParaRPr lang="en-US" sz="1700" dirty="0"/>
          </a:p>
        </p:txBody>
      </p:sp>
      <p:sp>
        <p:nvSpPr>
          <p:cNvPr id="4" name="Shape 2"/>
          <p:cNvSpPr/>
          <p:nvPr/>
        </p:nvSpPr>
        <p:spPr>
          <a:xfrm>
            <a:off x="548640" y="2194560"/>
            <a:ext cx="502920" cy="502920"/>
          </a:xfrm>
          <a:prstGeom prst="ellipse">
            <a:avLst/>
          </a:prstGeom>
          <a:solidFill>
            <a:srgbClr val="0BB6BC"/>
          </a:solidFill>
          <a:ln w="12700">
            <a:solidFill>
              <a:srgbClr val="0BB6BC"/>
            </a:solidFill>
            <a:prstDash val="solid"/>
          </a:ln>
        </p:spPr>
      </p:sp>
      <p:sp>
        <p:nvSpPr>
          <p:cNvPr id="5" name="Text 3"/>
          <p:cNvSpPr txBox="1"/>
          <p:nvPr/>
        </p:nvSpPr>
        <p:spPr>
          <a:xfrm>
            <a:off x="548640" y="2194560"/>
            <a:ext cx="502920" cy="502920"/>
          </a:xfrm>
          <a:prstGeom prst="rect">
            <a:avLst/>
          </a:prstGeom>
          <a:noFill/>
          <a:ln/>
        </p:spPr>
        <p:txBody>
          <a:bodyPr wrap="square" lIns="0" tIns="0" rIns="0" bIns="0" rtlCol="0" anchor="ctr"/>
          <a:lstStyle/>
          <a:p>
            <a:pPr algn="ctr" indent="0" marL="0">
              <a:buNone/>
            </a:pPr>
            <a:r>
              <a:rPr lang="en-US" sz="1800" b="1" dirty="0">
                <a:solidFill>
                  <a:srgbClr val="1C1C1C"/>
                </a:solidFill>
                <a:latin typeface="Calibri" pitchFamily="34" charset="0"/>
                <a:ea typeface="Calibri" pitchFamily="34" charset="-122"/>
                <a:cs typeface="Calibri" pitchFamily="34" charset="-120"/>
              </a:rPr>
              <a:t>1</a:t>
            </a:r>
            <a:endParaRPr lang="en-US" sz="1800" dirty="0"/>
          </a:p>
        </p:txBody>
      </p:sp>
      <p:sp>
        <p:nvSpPr>
          <p:cNvPr id="6" name="Text 4"/>
          <p:cNvSpPr txBox="1"/>
          <p:nvPr/>
        </p:nvSpPr>
        <p:spPr>
          <a:xfrm>
            <a:off x="1234440" y="2148840"/>
            <a:ext cx="4251960" cy="91440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Release 1</a:t>
            </a:r>
            <a:endParaRPr lang="en-US" sz="1500" dirty="0"/>
          </a:p>
          <a:p>
            <a:pPr indent="0" marL="0">
              <a:buNone/>
            </a:pPr>
            <a:r>
              <a:rPr lang="en-US" sz="1300" dirty="0">
                <a:solidFill>
                  <a:srgbClr val="FFFFFF"/>
                </a:solidFill>
                <a:latin typeface="Calibri" pitchFamily="34" charset="0"/>
                <a:ea typeface="Calibri" pitchFamily="34" charset="-122"/>
                <a:cs typeface="Calibri" pitchFamily="34" charset="-120"/>
              </a:rPr>
              <a:t>Finance-led check of the missed-fee estimate and the Nakuru start-up.</a:t>
            </a:r>
            <a:endParaRPr lang="en-US" sz="1500" dirty="0"/>
          </a:p>
        </p:txBody>
      </p:sp>
      <p:sp>
        <p:nvSpPr>
          <p:cNvPr id="7" name="Shape 5"/>
          <p:cNvSpPr/>
          <p:nvPr/>
        </p:nvSpPr>
        <p:spPr>
          <a:xfrm>
            <a:off x="548640" y="3291840"/>
            <a:ext cx="502920" cy="502920"/>
          </a:xfrm>
          <a:prstGeom prst="ellipse">
            <a:avLst/>
          </a:prstGeom>
          <a:solidFill>
            <a:srgbClr val="0BB6BC"/>
          </a:solidFill>
          <a:ln w="12700">
            <a:solidFill>
              <a:srgbClr val="0BB6BC"/>
            </a:solidFill>
            <a:prstDash val="solid"/>
          </a:ln>
        </p:spPr>
      </p:sp>
      <p:sp>
        <p:nvSpPr>
          <p:cNvPr id="8" name="Text 6"/>
          <p:cNvSpPr txBox="1"/>
          <p:nvPr/>
        </p:nvSpPr>
        <p:spPr>
          <a:xfrm>
            <a:off x="548640" y="3291840"/>
            <a:ext cx="502920" cy="502920"/>
          </a:xfrm>
          <a:prstGeom prst="rect">
            <a:avLst/>
          </a:prstGeom>
          <a:noFill/>
          <a:ln/>
        </p:spPr>
        <p:txBody>
          <a:bodyPr wrap="square" lIns="0" tIns="0" rIns="0" bIns="0" rtlCol="0" anchor="ctr"/>
          <a:lstStyle/>
          <a:p>
            <a:pPr algn="ctr" indent="0" marL="0">
              <a:buNone/>
            </a:pPr>
            <a:r>
              <a:rPr lang="en-US" sz="1800" b="1" dirty="0">
                <a:solidFill>
                  <a:srgbClr val="1C1C1C"/>
                </a:solidFill>
                <a:latin typeface="Calibri" pitchFamily="34" charset="0"/>
                <a:ea typeface="Calibri" pitchFamily="34" charset="-122"/>
                <a:cs typeface="Calibri" pitchFamily="34" charset="-120"/>
              </a:rPr>
              <a:t>2</a:t>
            </a:r>
            <a:endParaRPr lang="en-US" sz="1800" dirty="0"/>
          </a:p>
        </p:txBody>
      </p:sp>
      <p:sp>
        <p:nvSpPr>
          <p:cNvPr id="9" name="Text 7"/>
          <p:cNvSpPr txBox="1"/>
          <p:nvPr/>
        </p:nvSpPr>
        <p:spPr>
          <a:xfrm>
            <a:off x="1234440" y="3246120"/>
            <a:ext cx="4251960" cy="91440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Release 2</a:t>
            </a:r>
            <a:endParaRPr lang="en-US" sz="1500" dirty="0"/>
          </a:p>
          <a:p>
            <a:pPr indent="0" marL="0">
              <a:buNone/>
            </a:pPr>
            <a:r>
              <a:rPr lang="en-US" sz="1300" dirty="0">
                <a:solidFill>
                  <a:srgbClr val="FFFFFF"/>
                </a:solidFill>
                <a:latin typeface="Calibri" pitchFamily="34" charset="0"/>
                <a:ea typeface="Calibri" pitchFamily="34" charset="-122"/>
                <a:cs typeface="Calibri" pitchFamily="34" charset="-120"/>
              </a:rPr>
              <a:t>Eldoret, Kisumu, regulator connections and all 40+ customers, once Step 1 confirms at least KES 7.75M a year.</a:t>
            </a:r>
            <a:endParaRPr lang="en-US" sz="1500" dirty="0"/>
          </a:p>
        </p:txBody>
      </p:sp>
      <p:sp>
        <p:nvSpPr>
          <p:cNvPr id="10" name="Shape 8"/>
          <p:cNvSpPr/>
          <p:nvPr/>
        </p:nvSpPr>
        <p:spPr>
          <a:xfrm>
            <a:off x="5852160" y="1371600"/>
            <a:ext cx="2834640" cy="2834640"/>
          </a:xfrm>
          <a:prstGeom prst="roundRect">
            <a:avLst>
              <a:gd name="adj" fmla="val 3226"/>
            </a:avLst>
          </a:prstGeom>
          <a:solidFill>
            <a:srgbClr val="7A0E35"/>
          </a:solidFill>
          <a:ln w="12700">
            <a:solidFill>
              <a:srgbClr val="A63A61"/>
            </a:solidFill>
            <a:prstDash val="solid"/>
          </a:ln>
        </p:spPr>
      </p:sp>
      <p:sp>
        <p:nvSpPr>
          <p:cNvPr id="11" name="Text 9"/>
          <p:cNvSpPr txBox="1"/>
          <p:nvPr/>
        </p:nvSpPr>
        <p:spPr>
          <a:xfrm>
            <a:off x="6035040" y="1508760"/>
            <a:ext cx="2468880" cy="274320"/>
          </a:xfrm>
          <a:prstGeom prst="rect">
            <a:avLst/>
          </a:prstGeom>
          <a:noFill/>
          <a:ln/>
        </p:spPr>
        <p:txBody>
          <a:bodyPr wrap="square" lIns="0" tIns="0" rIns="0" bIns="0" rtlCol="0" anchor="ctr"/>
          <a:lstStyle/>
          <a:p>
            <a:pPr indent="0" marL="0">
              <a:buNone/>
            </a:pPr>
            <a:r>
              <a:rPr lang="en-US" sz="1300" dirty="0">
                <a:solidFill>
                  <a:srgbClr val="F2B8C6"/>
                </a:solidFill>
                <a:latin typeface="Calibri" pitchFamily="34" charset="0"/>
                <a:ea typeface="Calibri" pitchFamily="34" charset="-122"/>
                <a:cs typeface="Calibri" pitchFamily="34" charset="-120"/>
              </a:rPr>
              <a:t>The cost of waiting</a:t>
            </a:r>
            <a:endParaRPr lang="en-US" sz="1300" dirty="0"/>
          </a:p>
        </p:txBody>
      </p:sp>
      <p:sp>
        <p:nvSpPr>
          <p:cNvPr id="12" name="Text 10"/>
          <p:cNvSpPr txBox="1"/>
          <p:nvPr/>
        </p:nvSpPr>
        <p:spPr>
          <a:xfrm>
            <a:off x="6035040" y="1874520"/>
            <a:ext cx="2468880" cy="731520"/>
          </a:xfrm>
          <a:prstGeom prst="rect">
            <a:avLst/>
          </a:prstGeom>
          <a:noFill/>
          <a:ln/>
        </p:spPr>
        <p:txBody>
          <a:bodyPr wrap="square" lIns="0" tIns="0" rIns="0" bIns="0" rtlCol="0" anchor="ctr"/>
          <a:lstStyle/>
          <a:p>
            <a:pPr indent="0" marL="0">
              <a:buNone/>
            </a:pPr>
            <a:r>
              <a:rPr lang="en-US" sz="3600" b="1" dirty="0">
                <a:solidFill>
                  <a:srgbClr val="0BB6BC"/>
                </a:solidFill>
                <a:latin typeface="Calibri" pitchFamily="34" charset="0"/>
                <a:ea typeface="Calibri" pitchFamily="34" charset="-122"/>
                <a:cs typeface="Calibri" pitchFamily="34" charset="-120"/>
              </a:rPr>
              <a:t>KES 3.75M</a:t>
            </a:r>
            <a:endParaRPr lang="en-US" sz="3600" dirty="0"/>
          </a:p>
        </p:txBody>
      </p:sp>
      <p:sp>
        <p:nvSpPr>
          <p:cNvPr id="13" name="Text 11"/>
          <p:cNvSpPr txBox="1"/>
          <p:nvPr/>
        </p:nvSpPr>
        <p:spPr>
          <a:xfrm>
            <a:off x="6035040" y="2651760"/>
            <a:ext cx="2468880" cy="59436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estimated unbilled every month we delay (KES 45M ÷ 12, a modelled estimate)</a:t>
            </a:r>
            <a:endParaRPr lang="en-US" sz="1200" dirty="0"/>
          </a:p>
        </p:txBody>
      </p:sp>
      <p:sp>
        <p:nvSpPr>
          <p:cNvPr id="14" name="Text 12"/>
          <p:cNvSpPr txBox="1"/>
          <p:nvPr/>
        </p:nvSpPr>
        <p:spPr>
          <a:xfrm>
            <a:off x="6035040" y="3337560"/>
            <a:ext cx="2468880" cy="73152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Expected result: KES 19.0M a year recovered, payback in about 8 months.</a:t>
            </a:r>
            <a:endParaRPr lang="en-US" sz="1200" dirty="0"/>
          </a:p>
        </p:txBody>
      </p:sp>
      <p:sp>
        <p:nvSpPr>
          <p:cNvPr id="15" name="Text 13"/>
          <p:cNvSpPr txBox="1"/>
          <p:nvPr/>
        </p:nvSpPr>
        <p:spPr>
          <a:xfrm>
            <a:off x="457200" y="4828032"/>
            <a:ext cx="5486400" cy="201168"/>
          </a:xfrm>
          <a:prstGeom prst="rect">
            <a:avLst/>
          </a:prstGeom>
          <a:noFill/>
          <a:ln/>
        </p:spPr>
        <p:txBody>
          <a:bodyPr wrap="square" lIns="0" tIns="0" rIns="0" bIns="0" rtlCol="0" anchor="ctr"/>
          <a:lstStyle/>
          <a:p>
            <a:pPr indent="0" marL="0">
              <a:buNone/>
            </a:pPr>
            <a:r>
              <a:rPr lang="en-US" sz="900" dirty="0">
                <a:solidFill>
                  <a:srgbClr val="F2B8C6"/>
                </a:solidFill>
                <a:latin typeface="Calibri" pitchFamily="34" charset="0"/>
                <a:ea typeface="Calibri" pitchFamily="34" charset="-122"/>
                <a:cs typeface="Calibri" pitchFamily="34" charset="-120"/>
              </a:rPr>
              <a:t>KPC Revenue Assurance  |  Board Strategy Pitch</a:t>
            </a:r>
            <a:endParaRPr lang="en-US" sz="900" dirty="0"/>
          </a:p>
        </p:txBody>
      </p:sp>
      <p:sp>
        <p:nvSpPr>
          <p:cNvPr id="16" name="Text 14"/>
          <p:cNvSpPr txBox="1"/>
          <p:nvPr/>
        </p:nvSpPr>
        <p:spPr>
          <a:xfrm>
            <a:off x="8229600" y="4828032"/>
            <a:ext cx="457200" cy="201168"/>
          </a:xfrm>
          <a:prstGeom prst="rect">
            <a:avLst/>
          </a:prstGeom>
          <a:noFill/>
          <a:ln/>
        </p:spPr>
        <p:txBody>
          <a:bodyPr wrap="square" lIns="0" tIns="0" rIns="0" bIns="0" rtlCol="0" anchor="ctr"/>
          <a:lstStyle/>
          <a:p>
            <a:pPr algn="r" indent="0" marL="0">
              <a:buNone/>
            </a:pPr>
            <a:r>
              <a:rPr lang="en-US" sz="900" dirty="0">
                <a:solidFill>
                  <a:srgbClr val="F2B8C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8229600" cy="731520"/>
          </a:xfrm>
          <a:prstGeom prst="rect">
            <a:avLst/>
          </a:prstGeom>
          <a:noFill/>
          <a:ln/>
        </p:spPr>
        <p:txBody>
          <a:bodyPr wrap="square" lIns="0" tIns="0" rIns="0" bIns="0" rtlCol="0" anchor="t"/>
          <a:lstStyle/>
          <a:p>
            <a:pPr indent="0" marL="0">
              <a:buNone/>
            </a:pPr>
            <a:r>
              <a:rPr lang="en-US" sz="3000" b="1" dirty="0">
                <a:solidFill>
                  <a:srgbClr val="1C1C1C"/>
                </a:solidFill>
                <a:latin typeface="Calibri" pitchFamily="34" charset="0"/>
                <a:ea typeface="Calibri" pitchFamily="34" charset="-122"/>
                <a:cs typeface="Calibri" pitchFamily="34" charset="-120"/>
              </a:rPr>
              <a:t>Thank you. Questions?</a:t>
            </a:r>
            <a:endParaRPr lang="en-US" sz="3000" dirty="0"/>
          </a:p>
        </p:txBody>
      </p:sp>
      <p:sp>
        <p:nvSpPr>
          <p:cNvPr id="3" name="Text 1"/>
          <p:cNvSpPr txBox="1"/>
          <p:nvPr/>
        </p:nvSpPr>
        <p:spPr>
          <a:xfrm>
            <a:off x="457200" y="1097280"/>
            <a:ext cx="8229600" cy="320040"/>
          </a:xfrm>
          <a:prstGeom prst="rect">
            <a:avLst/>
          </a:prstGeom>
          <a:noFill/>
          <a:ln/>
        </p:spPr>
        <p:txBody>
          <a:bodyPr wrap="square" lIns="0" tIns="0" rIns="0" bIns="0" rtlCol="0" anchor="ctr"/>
          <a:lstStyle/>
          <a:p>
            <a:pPr indent="0" marL="0">
              <a:buNone/>
            </a:pPr>
            <a:r>
              <a:rPr lang="en-US" sz="1600" dirty="0">
                <a:solidFill>
                  <a:srgbClr val="5A5A5A"/>
                </a:solidFill>
                <a:latin typeface="Calibri" pitchFamily="34" charset="0"/>
                <a:ea typeface="Calibri" pitchFamily="34" charset="-122"/>
                <a:cs typeface="Calibri" pitchFamily="34" charset="-120"/>
              </a:rPr>
              <a:t>The KPC Revenue Assurance team</a:t>
            </a:r>
            <a:endParaRPr lang="en-US" sz="1600" dirty="0"/>
          </a:p>
        </p:txBody>
      </p:sp>
      <p:sp>
        <p:nvSpPr>
          <p:cNvPr id="4" name="Shape 2"/>
          <p:cNvSpPr/>
          <p:nvPr/>
        </p:nvSpPr>
        <p:spPr>
          <a:xfrm>
            <a:off x="457200" y="1691640"/>
            <a:ext cx="1554480" cy="1325880"/>
          </a:xfrm>
          <a:prstGeom prst="roundRect">
            <a:avLst>
              <a:gd name="adj" fmla="val 5517"/>
            </a:avLst>
          </a:prstGeom>
          <a:solidFill>
            <a:srgbClr val="FBEFEA"/>
          </a:solidFill>
          <a:ln w="12700">
            <a:solidFill>
              <a:srgbClr val="FBEFEA"/>
            </a:solidFill>
            <a:prstDash val="solid"/>
          </a:ln>
        </p:spPr>
      </p:sp>
      <p:sp>
        <p:nvSpPr>
          <p:cNvPr id="5" name="Shape 3"/>
          <p:cNvSpPr/>
          <p:nvPr/>
        </p:nvSpPr>
        <p:spPr>
          <a:xfrm>
            <a:off x="960120" y="1810512"/>
            <a:ext cx="548640" cy="548640"/>
          </a:xfrm>
          <a:prstGeom prst="ellipse">
            <a:avLst/>
          </a:prstGeom>
          <a:solidFill>
            <a:srgbClr val="90113E"/>
          </a:solidFill>
          <a:ln w="12700">
            <a:solidFill>
              <a:srgbClr val="90113E"/>
            </a:solidFill>
            <a:prstDash val="solid"/>
          </a:ln>
        </p:spPr>
      </p:sp>
      <p:pic>
        <p:nvPicPr>
          <p:cNvPr id="6" name="Image 0" descr="preencoded.png">    </p:cNvPr>
          <p:cNvPicPr>
            <a:picLocks noChangeAspect="1"/>
          </p:cNvPicPr>
          <p:nvPr/>
        </p:nvPicPr>
        <p:blipFill>
          <a:blip r:embed="rId1"/>
          <a:stretch>
            <a:fillRect/>
          </a:stretch>
        </p:blipFill>
        <p:spPr>
          <a:xfrm>
            <a:off x="1102766" y="1953158"/>
            <a:ext cx="263347" cy="263347"/>
          </a:xfrm>
          <a:prstGeom prst="rect">
            <a:avLst/>
          </a:prstGeom>
        </p:spPr>
      </p:pic>
      <p:sp>
        <p:nvSpPr>
          <p:cNvPr id="7" name="Text 4"/>
          <p:cNvSpPr txBox="1"/>
          <p:nvPr/>
        </p:nvSpPr>
        <p:spPr>
          <a:xfrm>
            <a:off x="502920" y="2423160"/>
            <a:ext cx="1463040" cy="274320"/>
          </a:xfrm>
          <a:prstGeom prst="rect">
            <a:avLst/>
          </a:prstGeom>
          <a:noFill/>
          <a:ln/>
        </p:spPr>
        <p:txBody>
          <a:bodyPr wrap="square" lIns="0" tIns="0" rIns="0" bIns="0" rtlCol="0" anchor="ctr"/>
          <a:lstStyle/>
          <a:p>
            <a:pPr algn="ctr" indent="0" marL="0">
              <a:buNone/>
            </a:pPr>
            <a:r>
              <a:rPr lang="en-US" sz="1300" b="1" dirty="0">
                <a:solidFill>
                  <a:srgbClr val="1C1C1C"/>
                </a:solidFill>
                <a:latin typeface="Calibri" pitchFamily="34" charset="0"/>
                <a:ea typeface="Calibri" pitchFamily="34" charset="-122"/>
                <a:cs typeface="Calibri" pitchFamily="34" charset="-120"/>
              </a:rPr>
              <a:t>Brian Mugambi</a:t>
            </a:r>
            <a:endParaRPr lang="en-US" sz="1300" dirty="0"/>
          </a:p>
        </p:txBody>
      </p:sp>
      <p:sp>
        <p:nvSpPr>
          <p:cNvPr id="8" name="Text 5"/>
          <p:cNvSpPr txBox="1"/>
          <p:nvPr/>
        </p:nvSpPr>
        <p:spPr>
          <a:xfrm>
            <a:off x="502920" y="2679192"/>
            <a:ext cx="1463040" cy="274320"/>
          </a:xfrm>
          <a:prstGeom prst="rect">
            <a:avLst/>
          </a:prstGeom>
          <a:noFill/>
          <a:ln/>
        </p:spPr>
        <p:txBody>
          <a:bodyPr wrap="square" lIns="0" tIns="0" rIns="0" bIns="0" rtlCol="0" anchor="ctr"/>
          <a:lstStyle/>
          <a:p>
            <a:pPr algn="ctr" indent="0" marL="0">
              <a:buNone/>
            </a:pPr>
            <a:r>
              <a:rPr lang="en-US" sz="1050" dirty="0">
                <a:solidFill>
                  <a:srgbClr val="5A5A5A"/>
                </a:solidFill>
                <a:latin typeface="Calibri" pitchFamily="34" charset="0"/>
                <a:ea typeface="Calibri" pitchFamily="34" charset="-122"/>
                <a:cs typeface="Calibri" pitchFamily="34" charset="-120"/>
              </a:rPr>
              <a:t>Lead Architect</a:t>
            </a:r>
            <a:endParaRPr lang="en-US" sz="1050" dirty="0"/>
          </a:p>
        </p:txBody>
      </p:sp>
      <p:sp>
        <p:nvSpPr>
          <p:cNvPr id="9" name="Shape 6"/>
          <p:cNvSpPr/>
          <p:nvPr/>
        </p:nvSpPr>
        <p:spPr>
          <a:xfrm>
            <a:off x="2125980" y="1691640"/>
            <a:ext cx="1554480" cy="1325880"/>
          </a:xfrm>
          <a:prstGeom prst="roundRect">
            <a:avLst>
              <a:gd name="adj" fmla="val 5517"/>
            </a:avLst>
          </a:prstGeom>
          <a:solidFill>
            <a:srgbClr val="FBEFEA"/>
          </a:solidFill>
          <a:ln w="12700">
            <a:solidFill>
              <a:srgbClr val="FBEFEA"/>
            </a:solidFill>
            <a:prstDash val="solid"/>
          </a:ln>
        </p:spPr>
      </p:sp>
      <p:sp>
        <p:nvSpPr>
          <p:cNvPr id="10" name="Shape 7"/>
          <p:cNvSpPr/>
          <p:nvPr/>
        </p:nvSpPr>
        <p:spPr>
          <a:xfrm>
            <a:off x="2628900" y="1810512"/>
            <a:ext cx="548640" cy="548640"/>
          </a:xfrm>
          <a:prstGeom prst="ellipse">
            <a:avLst/>
          </a:prstGeom>
          <a:solidFill>
            <a:srgbClr val="07777C"/>
          </a:solidFill>
          <a:ln w="12700">
            <a:solidFill>
              <a:srgbClr val="07777C"/>
            </a:solidFill>
            <a:prstDash val="solid"/>
          </a:ln>
        </p:spPr>
      </p:sp>
      <p:pic>
        <p:nvPicPr>
          <p:cNvPr id="11" name="Image 1" descr="preencoded.png">    </p:cNvPr>
          <p:cNvPicPr>
            <a:picLocks noChangeAspect="1"/>
          </p:cNvPicPr>
          <p:nvPr/>
        </p:nvPicPr>
        <p:blipFill>
          <a:blip r:embed="rId2"/>
          <a:stretch>
            <a:fillRect/>
          </a:stretch>
        </p:blipFill>
        <p:spPr>
          <a:xfrm>
            <a:off x="2771546" y="1953158"/>
            <a:ext cx="263347" cy="263347"/>
          </a:xfrm>
          <a:prstGeom prst="rect">
            <a:avLst/>
          </a:prstGeom>
        </p:spPr>
      </p:pic>
      <p:sp>
        <p:nvSpPr>
          <p:cNvPr id="12" name="Text 8"/>
          <p:cNvSpPr txBox="1"/>
          <p:nvPr/>
        </p:nvSpPr>
        <p:spPr>
          <a:xfrm>
            <a:off x="2171700" y="2423160"/>
            <a:ext cx="1463040" cy="274320"/>
          </a:xfrm>
          <a:prstGeom prst="rect">
            <a:avLst/>
          </a:prstGeom>
          <a:noFill/>
          <a:ln/>
        </p:spPr>
        <p:txBody>
          <a:bodyPr wrap="square" lIns="0" tIns="0" rIns="0" bIns="0" rtlCol="0" anchor="ctr"/>
          <a:lstStyle/>
          <a:p>
            <a:pPr algn="ctr" indent="0" marL="0">
              <a:buNone/>
            </a:pPr>
            <a:r>
              <a:rPr lang="en-US" sz="1300" b="1" dirty="0">
                <a:solidFill>
                  <a:srgbClr val="1C1C1C"/>
                </a:solidFill>
                <a:latin typeface="Calibri" pitchFamily="34" charset="0"/>
                <a:ea typeface="Calibri" pitchFamily="34" charset="-122"/>
                <a:cs typeface="Calibri" pitchFamily="34" charset="-120"/>
              </a:rPr>
              <a:t>Carson Sila</a:t>
            </a:r>
            <a:endParaRPr lang="en-US" sz="1300" dirty="0"/>
          </a:p>
        </p:txBody>
      </p:sp>
      <p:sp>
        <p:nvSpPr>
          <p:cNvPr id="13" name="Text 9"/>
          <p:cNvSpPr txBox="1"/>
          <p:nvPr/>
        </p:nvSpPr>
        <p:spPr>
          <a:xfrm>
            <a:off x="2171700" y="2679192"/>
            <a:ext cx="1463040" cy="274320"/>
          </a:xfrm>
          <a:prstGeom prst="rect">
            <a:avLst/>
          </a:prstGeom>
          <a:noFill/>
          <a:ln/>
        </p:spPr>
        <p:txBody>
          <a:bodyPr wrap="square" lIns="0" tIns="0" rIns="0" bIns="0" rtlCol="0" anchor="ctr"/>
          <a:lstStyle/>
          <a:p>
            <a:pPr algn="ctr" indent="0" marL="0">
              <a:buNone/>
            </a:pPr>
            <a:r>
              <a:rPr lang="en-US" sz="1050" dirty="0">
                <a:solidFill>
                  <a:srgbClr val="5A5A5A"/>
                </a:solidFill>
                <a:latin typeface="Calibri" pitchFamily="34" charset="0"/>
                <a:ea typeface="Calibri" pitchFamily="34" charset="-122"/>
                <a:cs typeface="Calibri" pitchFamily="34" charset="-120"/>
              </a:rPr>
              <a:t>SCADA Telemetry Lead</a:t>
            </a:r>
            <a:endParaRPr lang="en-US" sz="1050" dirty="0"/>
          </a:p>
        </p:txBody>
      </p:sp>
      <p:sp>
        <p:nvSpPr>
          <p:cNvPr id="14" name="Shape 10"/>
          <p:cNvSpPr/>
          <p:nvPr/>
        </p:nvSpPr>
        <p:spPr>
          <a:xfrm>
            <a:off x="3794760" y="1691640"/>
            <a:ext cx="1554480" cy="1325880"/>
          </a:xfrm>
          <a:prstGeom prst="roundRect">
            <a:avLst>
              <a:gd name="adj" fmla="val 5517"/>
            </a:avLst>
          </a:prstGeom>
          <a:solidFill>
            <a:srgbClr val="FBEFEA"/>
          </a:solidFill>
          <a:ln w="12700">
            <a:solidFill>
              <a:srgbClr val="FBEFEA"/>
            </a:solidFill>
            <a:prstDash val="solid"/>
          </a:ln>
        </p:spPr>
      </p:sp>
      <p:sp>
        <p:nvSpPr>
          <p:cNvPr id="15" name="Shape 11"/>
          <p:cNvSpPr/>
          <p:nvPr/>
        </p:nvSpPr>
        <p:spPr>
          <a:xfrm>
            <a:off x="4297680" y="1810512"/>
            <a:ext cx="548640" cy="548640"/>
          </a:xfrm>
          <a:prstGeom prst="ellipse">
            <a:avLst/>
          </a:prstGeom>
          <a:solidFill>
            <a:srgbClr val="07777C"/>
          </a:solidFill>
          <a:ln w="12700">
            <a:solidFill>
              <a:srgbClr val="07777C"/>
            </a:solidFill>
            <a:prstDash val="solid"/>
          </a:ln>
        </p:spPr>
      </p:sp>
      <p:pic>
        <p:nvPicPr>
          <p:cNvPr id="16" name="Image 2" descr="preencoded.png">    </p:cNvPr>
          <p:cNvPicPr>
            <a:picLocks noChangeAspect="1"/>
          </p:cNvPicPr>
          <p:nvPr/>
        </p:nvPicPr>
        <p:blipFill>
          <a:blip r:embed="rId3"/>
          <a:stretch>
            <a:fillRect/>
          </a:stretch>
        </p:blipFill>
        <p:spPr>
          <a:xfrm>
            <a:off x="4440326" y="1953158"/>
            <a:ext cx="263347" cy="263347"/>
          </a:xfrm>
          <a:prstGeom prst="rect">
            <a:avLst/>
          </a:prstGeom>
        </p:spPr>
      </p:pic>
      <p:sp>
        <p:nvSpPr>
          <p:cNvPr id="17" name="Text 12"/>
          <p:cNvSpPr txBox="1"/>
          <p:nvPr/>
        </p:nvSpPr>
        <p:spPr>
          <a:xfrm>
            <a:off x="3840480" y="2423160"/>
            <a:ext cx="1463040" cy="274320"/>
          </a:xfrm>
          <a:prstGeom prst="rect">
            <a:avLst/>
          </a:prstGeom>
          <a:noFill/>
          <a:ln/>
        </p:spPr>
        <p:txBody>
          <a:bodyPr wrap="square" lIns="0" tIns="0" rIns="0" bIns="0" rtlCol="0" anchor="ctr"/>
          <a:lstStyle/>
          <a:p>
            <a:pPr algn="ctr" indent="0" marL="0">
              <a:buNone/>
            </a:pPr>
            <a:r>
              <a:rPr lang="en-US" sz="1300" b="1" dirty="0">
                <a:solidFill>
                  <a:srgbClr val="1C1C1C"/>
                </a:solidFill>
                <a:latin typeface="Calibri" pitchFamily="34" charset="0"/>
                <a:ea typeface="Calibri" pitchFamily="34" charset="-122"/>
                <a:cs typeface="Calibri" pitchFamily="34" charset="-120"/>
              </a:rPr>
              <a:t>Charlene Kamunyu</a:t>
            </a:r>
            <a:endParaRPr lang="en-US" sz="1300" dirty="0"/>
          </a:p>
        </p:txBody>
      </p:sp>
      <p:sp>
        <p:nvSpPr>
          <p:cNvPr id="18" name="Text 13"/>
          <p:cNvSpPr txBox="1"/>
          <p:nvPr/>
        </p:nvSpPr>
        <p:spPr>
          <a:xfrm>
            <a:off x="3840480" y="2679192"/>
            <a:ext cx="1463040" cy="274320"/>
          </a:xfrm>
          <a:prstGeom prst="rect">
            <a:avLst/>
          </a:prstGeom>
          <a:noFill/>
          <a:ln/>
        </p:spPr>
        <p:txBody>
          <a:bodyPr wrap="square" lIns="0" tIns="0" rIns="0" bIns="0" rtlCol="0" anchor="ctr"/>
          <a:lstStyle/>
          <a:p>
            <a:pPr algn="ctr" indent="0" marL="0">
              <a:buNone/>
            </a:pPr>
            <a:r>
              <a:rPr lang="en-US" sz="1050" dirty="0">
                <a:solidFill>
                  <a:srgbClr val="5A5A5A"/>
                </a:solidFill>
                <a:latin typeface="Calibri" pitchFamily="34" charset="0"/>
                <a:ea typeface="Calibri" pitchFamily="34" charset="-122"/>
                <a:cs typeface="Calibri" pitchFamily="34" charset="-120"/>
              </a:rPr>
              <a:t>Billing and Revenue Assurance</a:t>
            </a:r>
            <a:endParaRPr lang="en-US" sz="1050" dirty="0"/>
          </a:p>
        </p:txBody>
      </p:sp>
      <p:sp>
        <p:nvSpPr>
          <p:cNvPr id="19" name="Shape 14"/>
          <p:cNvSpPr/>
          <p:nvPr/>
        </p:nvSpPr>
        <p:spPr>
          <a:xfrm>
            <a:off x="5463540" y="1691640"/>
            <a:ext cx="1554480" cy="1325880"/>
          </a:xfrm>
          <a:prstGeom prst="roundRect">
            <a:avLst>
              <a:gd name="adj" fmla="val 5517"/>
            </a:avLst>
          </a:prstGeom>
          <a:solidFill>
            <a:srgbClr val="FBEFEA"/>
          </a:solidFill>
          <a:ln w="12700">
            <a:solidFill>
              <a:srgbClr val="FBEFEA"/>
            </a:solidFill>
            <a:prstDash val="solid"/>
          </a:ln>
        </p:spPr>
      </p:sp>
      <p:sp>
        <p:nvSpPr>
          <p:cNvPr id="20" name="Shape 15"/>
          <p:cNvSpPr/>
          <p:nvPr/>
        </p:nvSpPr>
        <p:spPr>
          <a:xfrm>
            <a:off x="5966460" y="1810512"/>
            <a:ext cx="548640" cy="548640"/>
          </a:xfrm>
          <a:prstGeom prst="ellipse">
            <a:avLst/>
          </a:prstGeom>
          <a:solidFill>
            <a:srgbClr val="07777C"/>
          </a:solidFill>
          <a:ln w="12700">
            <a:solidFill>
              <a:srgbClr val="07777C"/>
            </a:solidFill>
            <a:prstDash val="solid"/>
          </a:ln>
        </p:spPr>
      </p:sp>
      <p:pic>
        <p:nvPicPr>
          <p:cNvPr id="21" name="Image 3" descr="preencoded.png">    </p:cNvPr>
          <p:cNvPicPr>
            <a:picLocks noChangeAspect="1"/>
          </p:cNvPicPr>
          <p:nvPr/>
        </p:nvPicPr>
        <p:blipFill>
          <a:blip r:embed="rId4"/>
          <a:stretch>
            <a:fillRect/>
          </a:stretch>
        </p:blipFill>
        <p:spPr>
          <a:xfrm>
            <a:off x="6109106" y="1953158"/>
            <a:ext cx="263347" cy="263347"/>
          </a:xfrm>
          <a:prstGeom prst="rect">
            <a:avLst/>
          </a:prstGeom>
        </p:spPr>
      </p:pic>
      <p:sp>
        <p:nvSpPr>
          <p:cNvPr id="22" name="Text 16"/>
          <p:cNvSpPr txBox="1"/>
          <p:nvPr/>
        </p:nvSpPr>
        <p:spPr>
          <a:xfrm>
            <a:off x="5509260" y="2423160"/>
            <a:ext cx="1463040" cy="274320"/>
          </a:xfrm>
          <a:prstGeom prst="rect">
            <a:avLst/>
          </a:prstGeom>
          <a:noFill/>
          <a:ln/>
        </p:spPr>
        <p:txBody>
          <a:bodyPr wrap="square" lIns="0" tIns="0" rIns="0" bIns="0" rtlCol="0" anchor="ctr"/>
          <a:lstStyle/>
          <a:p>
            <a:pPr algn="ctr" indent="0" marL="0">
              <a:buNone/>
            </a:pPr>
            <a:r>
              <a:rPr lang="en-US" sz="1300" b="1" dirty="0">
                <a:solidFill>
                  <a:srgbClr val="1C1C1C"/>
                </a:solidFill>
                <a:latin typeface="Calibri" pitchFamily="34" charset="0"/>
                <a:ea typeface="Calibri" pitchFamily="34" charset="-122"/>
                <a:cs typeface="Calibri" pitchFamily="34" charset="-120"/>
              </a:rPr>
              <a:t>Emmanuel Brian</a:t>
            </a:r>
            <a:endParaRPr lang="en-US" sz="1300" dirty="0"/>
          </a:p>
        </p:txBody>
      </p:sp>
      <p:sp>
        <p:nvSpPr>
          <p:cNvPr id="23" name="Text 17"/>
          <p:cNvSpPr txBox="1"/>
          <p:nvPr/>
        </p:nvSpPr>
        <p:spPr>
          <a:xfrm>
            <a:off x="5509260" y="2679192"/>
            <a:ext cx="1463040" cy="274320"/>
          </a:xfrm>
          <a:prstGeom prst="rect">
            <a:avLst/>
          </a:prstGeom>
          <a:noFill/>
          <a:ln/>
        </p:spPr>
        <p:txBody>
          <a:bodyPr wrap="square" lIns="0" tIns="0" rIns="0" bIns="0" rtlCol="0" anchor="ctr"/>
          <a:lstStyle/>
          <a:p>
            <a:pPr algn="ctr" indent="0" marL="0">
              <a:buNone/>
            </a:pPr>
            <a:r>
              <a:rPr lang="en-US" sz="1050" dirty="0">
                <a:solidFill>
                  <a:srgbClr val="5A5A5A"/>
                </a:solidFill>
                <a:latin typeface="Calibri" pitchFamily="34" charset="0"/>
                <a:ea typeface="Calibri" pitchFamily="34" charset="-122"/>
                <a:cs typeface="Calibri" pitchFamily="34" charset="-120"/>
              </a:rPr>
              <a:t>Finance and AI Lead</a:t>
            </a:r>
            <a:endParaRPr lang="en-US" sz="1050" dirty="0"/>
          </a:p>
        </p:txBody>
      </p:sp>
      <p:sp>
        <p:nvSpPr>
          <p:cNvPr id="24" name="Shape 18"/>
          <p:cNvSpPr/>
          <p:nvPr/>
        </p:nvSpPr>
        <p:spPr>
          <a:xfrm>
            <a:off x="7132320" y="1691640"/>
            <a:ext cx="1554480" cy="1325880"/>
          </a:xfrm>
          <a:prstGeom prst="roundRect">
            <a:avLst>
              <a:gd name="adj" fmla="val 5517"/>
            </a:avLst>
          </a:prstGeom>
          <a:solidFill>
            <a:srgbClr val="FBEFEA"/>
          </a:solidFill>
          <a:ln w="12700">
            <a:solidFill>
              <a:srgbClr val="FBEFEA"/>
            </a:solidFill>
            <a:prstDash val="solid"/>
          </a:ln>
        </p:spPr>
      </p:sp>
      <p:sp>
        <p:nvSpPr>
          <p:cNvPr id="25" name="Shape 19"/>
          <p:cNvSpPr/>
          <p:nvPr/>
        </p:nvSpPr>
        <p:spPr>
          <a:xfrm>
            <a:off x="7635240" y="1810512"/>
            <a:ext cx="548640" cy="548640"/>
          </a:xfrm>
          <a:prstGeom prst="ellipse">
            <a:avLst/>
          </a:prstGeom>
          <a:solidFill>
            <a:srgbClr val="07777C"/>
          </a:solidFill>
          <a:ln w="12700">
            <a:solidFill>
              <a:srgbClr val="07777C"/>
            </a:solidFill>
            <a:prstDash val="solid"/>
          </a:ln>
        </p:spPr>
      </p:sp>
      <p:pic>
        <p:nvPicPr>
          <p:cNvPr id="26" name="Image 4" descr="preencoded.png">    </p:cNvPr>
          <p:cNvPicPr>
            <a:picLocks noChangeAspect="1"/>
          </p:cNvPicPr>
          <p:nvPr/>
        </p:nvPicPr>
        <p:blipFill>
          <a:blip r:embed="rId5"/>
          <a:stretch>
            <a:fillRect/>
          </a:stretch>
        </p:blipFill>
        <p:spPr>
          <a:xfrm>
            <a:off x="7777886" y="1953158"/>
            <a:ext cx="263347" cy="263347"/>
          </a:xfrm>
          <a:prstGeom prst="rect">
            <a:avLst/>
          </a:prstGeom>
        </p:spPr>
      </p:pic>
      <p:sp>
        <p:nvSpPr>
          <p:cNvPr id="27" name="Text 20"/>
          <p:cNvSpPr txBox="1"/>
          <p:nvPr/>
        </p:nvSpPr>
        <p:spPr>
          <a:xfrm>
            <a:off x="7178040" y="2423160"/>
            <a:ext cx="1463040" cy="274320"/>
          </a:xfrm>
          <a:prstGeom prst="rect">
            <a:avLst/>
          </a:prstGeom>
          <a:noFill/>
          <a:ln/>
        </p:spPr>
        <p:txBody>
          <a:bodyPr wrap="square" lIns="0" tIns="0" rIns="0" bIns="0" rtlCol="0" anchor="ctr"/>
          <a:lstStyle/>
          <a:p>
            <a:pPr algn="ctr" indent="0" marL="0">
              <a:buNone/>
            </a:pPr>
            <a:r>
              <a:rPr lang="en-US" sz="1300" b="1" dirty="0">
                <a:solidFill>
                  <a:srgbClr val="1C1C1C"/>
                </a:solidFill>
                <a:latin typeface="Calibri" pitchFamily="34" charset="0"/>
                <a:ea typeface="Calibri" pitchFamily="34" charset="-122"/>
                <a:cs typeface="Calibri" pitchFamily="34" charset="-120"/>
              </a:rPr>
              <a:t>Brian Sigei</a:t>
            </a:r>
            <a:endParaRPr lang="en-US" sz="1300" dirty="0"/>
          </a:p>
        </p:txBody>
      </p:sp>
      <p:sp>
        <p:nvSpPr>
          <p:cNvPr id="28" name="Text 21"/>
          <p:cNvSpPr txBox="1"/>
          <p:nvPr/>
        </p:nvSpPr>
        <p:spPr>
          <a:xfrm>
            <a:off x="7178040" y="2679192"/>
            <a:ext cx="1463040" cy="274320"/>
          </a:xfrm>
          <a:prstGeom prst="rect">
            <a:avLst/>
          </a:prstGeom>
          <a:noFill/>
          <a:ln/>
        </p:spPr>
        <p:txBody>
          <a:bodyPr wrap="square" lIns="0" tIns="0" rIns="0" bIns="0" rtlCol="0" anchor="ctr"/>
          <a:lstStyle/>
          <a:p>
            <a:pPr algn="ctr" indent="0" marL="0">
              <a:buNone/>
            </a:pPr>
            <a:r>
              <a:rPr lang="en-US" sz="1050" dirty="0">
                <a:solidFill>
                  <a:srgbClr val="5A5A5A"/>
                </a:solidFill>
                <a:latin typeface="Calibri" pitchFamily="34" charset="0"/>
                <a:ea typeface="Calibri" pitchFamily="34" charset="-122"/>
                <a:cs typeface="Calibri" pitchFamily="34" charset="-120"/>
              </a:rPr>
              <a:t>Compliance Auditor</a:t>
            </a:r>
            <a:endParaRPr lang="en-US" sz="1050" dirty="0"/>
          </a:p>
        </p:txBody>
      </p:sp>
      <p:sp>
        <p:nvSpPr>
          <p:cNvPr id="29" name="Shape 22"/>
          <p:cNvSpPr/>
          <p:nvPr/>
        </p:nvSpPr>
        <p:spPr>
          <a:xfrm>
            <a:off x="457200" y="3383280"/>
            <a:ext cx="8229600" cy="822960"/>
          </a:xfrm>
          <a:prstGeom prst="roundRect">
            <a:avLst>
              <a:gd name="adj" fmla="val 8889"/>
            </a:avLst>
          </a:prstGeom>
          <a:solidFill>
            <a:srgbClr val="90113E"/>
          </a:solidFill>
          <a:ln w="12700">
            <a:solidFill>
              <a:srgbClr val="90113E"/>
            </a:solidFill>
            <a:prstDash val="solid"/>
          </a:ln>
        </p:spPr>
      </p:sp>
      <p:sp>
        <p:nvSpPr>
          <p:cNvPr id="30" name="Text 23"/>
          <p:cNvSpPr txBox="1"/>
          <p:nvPr/>
        </p:nvSpPr>
        <p:spPr>
          <a:xfrm>
            <a:off x="731520" y="3383280"/>
            <a:ext cx="7680960" cy="82296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See it live: </a:t>
            </a:r>
            <a:pPr indent="0" marL="0">
              <a:buNone/>
            </a:pPr>
            <a:r>
              <a:rPr lang="en-US" sz="1800" u="sng" dirty="0">
                <a:solidFill>
                  <a:srgbClr val="FFFFFF"/>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demurrage-revenue-platform.vercel.app</a:t>
            </a:r>
            <a:endParaRPr lang="en-US" sz="1800" dirty="0"/>
          </a:p>
        </p:txBody>
      </p:sp>
      <p:sp>
        <p:nvSpPr>
          <p:cNvPr id="31" name="Text 24"/>
          <p:cNvSpPr txBox="1"/>
          <p:nvPr/>
        </p:nvSpPr>
        <p:spPr>
          <a:xfrm>
            <a:off x="457200" y="4434840"/>
            <a:ext cx="8229600" cy="274320"/>
          </a:xfrm>
          <a:prstGeom prst="rect">
            <a:avLst/>
          </a:prstGeom>
          <a:noFill/>
          <a:ln/>
        </p:spPr>
        <p:txBody>
          <a:bodyPr wrap="square" lIns="0" tIns="0" rIns="0" bIns="0" rtlCol="0" anchor="ctr"/>
          <a:lstStyle/>
          <a:p>
            <a:pPr indent="0" marL="0">
              <a:buNone/>
            </a:pPr>
            <a:r>
              <a:rPr lang="en-US" sz="1100" dirty="0">
                <a:solidFill>
                  <a:srgbClr val="5A5A5A"/>
                </a:solidFill>
                <a:latin typeface="Calibri" pitchFamily="34" charset="0"/>
                <a:ea typeface="Calibri" pitchFamily="34" charset="-122"/>
                <a:cs typeface="Calibri" pitchFamily="34" charset="-120"/>
              </a:rPr>
              <a:t>Backup slides follow: questions the Board may ask, and the financial model.</a:t>
            </a:r>
            <a:endParaRPr lang="en-US" sz="1100" dirty="0"/>
          </a:p>
        </p:txBody>
      </p:sp>
      <p:sp>
        <p:nvSpPr>
          <p:cNvPr id="32" name="Text 25"/>
          <p:cNvSpPr txBox="1"/>
          <p:nvPr/>
        </p:nvSpPr>
        <p:spPr>
          <a:xfrm>
            <a:off x="457200" y="4828032"/>
            <a:ext cx="5486400" cy="201168"/>
          </a:xfrm>
          <a:prstGeom prst="rect">
            <a:avLst/>
          </a:prstGeom>
          <a:noFill/>
          <a:ln/>
        </p:spPr>
        <p:txBody>
          <a:bodyPr wrap="square" lIns="0" tIns="0" rIns="0" bIns="0" rtlCol="0" anchor="ctr"/>
          <a:lstStyle/>
          <a:p>
            <a:pPr indent="0" marL="0">
              <a:buNone/>
            </a:pPr>
            <a:r>
              <a:rPr lang="en-US" sz="900" dirty="0">
                <a:solidFill>
                  <a:srgbClr val="8C8C8C"/>
                </a:solidFill>
                <a:latin typeface="Calibri" pitchFamily="34" charset="0"/>
                <a:ea typeface="Calibri" pitchFamily="34" charset="-122"/>
                <a:cs typeface="Calibri" pitchFamily="34" charset="-120"/>
              </a:rPr>
              <a:t>KPC Revenue Assurance  |  Board Strategy Pitch</a:t>
            </a:r>
            <a:endParaRPr lang="en-US" sz="900" dirty="0"/>
          </a:p>
        </p:txBody>
      </p:sp>
      <p:sp>
        <p:nvSpPr>
          <p:cNvPr id="33" name="Text 26"/>
          <p:cNvSpPr txBox="1"/>
          <p:nvPr/>
        </p:nvSpPr>
        <p:spPr>
          <a:xfrm>
            <a:off x="8229600" y="4828032"/>
            <a:ext cx="457200" cy="201168"/>
          </a:xfrm>
          <a:prstGeom prst="rect">
            <a:avLst/>
          </a:prstGeom>
          <a:noFill/>
          <a:ln/>
        </p:spPr>
        <p:txBody>
          <a:bodyPr wrap="square" lIns="0" tIns="0" rIns="0" bIns="0" rtlCol="0" anchor="ctr"/>
          <a:lstStyle/>
          <a:p>
            <a:pPr algn="r" indent="0" marL="0">
              <a:buNone/>
            </a:pPr>
            <a:r>
              <a:rPr lang="en-US" sz="900" dirty="0">
                <a:solidFill>
                  <a:srgbClr val="8C8C8C"/>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8229600" cy="731520"/>
          </a:xfrm>
          <a:prstGeom prst="rect">
            <a:avLst/>
          </a:prstGeom>
          <a:noFill/>
          <a:ln/>
        </p:spPr>
        <p:txBody>
          <a:bodyPr wrap="square" lIns="0" tIns="0" rIns="0" bIns="0" rtlCol="0" anchor="t"/>
          <a:lstStyle/>
          <a:p>
            <a:pPr indent="0" marL="0">
              <a:buNone/>
            </a:pPr>
            <a:r>
              <a:rPr lang="en-US" sz="3000" b="1" dirty="0">
                <a:solidFill>
                  <a:srgbClr val="1C1C1C"/>
                </a:solidFill>
                <a:latin typeface="Calibri" pitchFamily="34" charset="0"/>
                <a:ea typeface="Calibri" pitchFamily="34" charset="-122"/>
                <a:cs typeface="Calibri" pitchFamily="34" charset="-120"/>
              </a:rPr>
              <a:t>Backup: questions the Board may ask</a:t>
            </a:r>
            <a:endParaRPr lang="en-US" sz="3000" dirty="0"/>
          </a:p>
        </p:txBody>
      </p:sp>
      <p:sp>
        <p:nvSpPr>
          <p:cNvPr id="3" name="Shape 1"/>
          <p:cNvSpPr/>
          <p:nvPr/>
        </p:nvSpPr>
        <p:spPr>
          <a:xfrm>
            <a:off x="457200" y="1188720"/>
            <a:ext cx="4023360" cy="1051560"/>
          </a:xfrm>
          <a:prstGeom prst="roundRect">
            <a:avLst>
              <a:gd name="adj" fmla="val 6957"/>
            </a:avLst>
          </a:prstGeom>
          <a:solidFill>
            <a:srgbClr val="FBEFEA"/>
          </a:solidFill>
          <a:ln w="12700">
            <a:solidFill>
              <a:srgbClr val="FBEFEA"/>
            </a:solidFill>
            <a:prstDash val="solid"/>
          </a:ln>
        </p:spPr>
      </p:sp>
      <p:sp>
        <p:nvSpPr>
          <p:cNvPr id="4" name="Text 2"/>
          <p:cNvSpPr txBox="1"/>
          <p:nvPr/>
        </p:nvSpPr>
        <p:spPr>
          <a:xfrm>
            <a:off x="594360" y="1261872"/>
            <a:ext cx="3749040" cy="256032"/>
          </a:xfrm>
          <a:prstGeom prst="rect">
            <a:avLst/>
          </a:prstGeom>
          <a:noFill/>
          <a:ln/>
        </p:spPr>
        <p:txBody>
          <a:bodyPr wrap="square" lIns="0" tIns="0" rIns="0" bIns="0" rtlCol="0" anchor="ctr"/>
          <a:lstStyle/>
          <a:p>
            <a:pPr indent="0" marL="0">
              <a:buNone/>
            </a:pPr>
            <a:r>
              <a:rPr lang="en-US" sz="1250" b="1" dirty="0">
                <a:solidFill>
                  <a:srgbClr val="90113E"/>
                </a:solidFill>
                <a:latin typeface="Calibri" pitchFamily="34" charset="0"/>
                <a:ea typeface="Calibri" pitchFamily="34" charset="-122"/>
                <a:cs typeface="Calibri" pitchFamily="34" charset="-120"/>
              </a:rPr>
              <a:t>Is the KES 45M real?</a:t>
            </a:r>
            <a:endParaRPr lang="en-US" sz="1250" dirty="0"/>
          </a:p>
        </p:txBody>
      </p:sp>
      <p:sp>
        <p:nvSpPr>
          <p:cNvPr id="5" name="Text 3"/>
          <p:cNvSpPr txBox="1"/>
          <p:nvPr/>
        </p:nvSpPr>
        <p:spPr>
          <a:xfrm>
            <a:off x="594360" y="1554480"/>
            <a:ext cx="3749040" cy="640080"/>
          </a:xfrm>
          <a:prstGeom prst="rect">
            <a:avLst/>
          </a:prstGeom>
          <a:noFill/>
          <a:ln/>
        </p:spPr>
        <p:txBody>
          <a:bodyPr wrap="square" lIns="0" tIns="0" rIns="0" bIns="0" rtlCol="0" anchor="t"/>
          <a:lstStyle/>
          <a:p>
            <a:pPr indent="0" marL="0">
              <a:buNone/>
            </a:pPr>
            <a:r>
              <a:rPr lang="en-US" sz="1050" dirty="0">
                <a:solidFill>
                  <a:srgbClr val="1C1C1C"/>
                </a:solidFill>
                <a:latin typeface="Calibri" pitchFamily="34" charset="0"/>
                <a:ea typeface="Calibri" pitchFamily="34" charset="-122"/>
                <a:cs typeface="Calibri" pitchFamily="34" charset="-120"/>
              </a:rPr>
              <a:t>It is a modelled estimate. Finance and Internal Audit test it against real depot records in the first 60 days, before Release 2.</a:t>
            </a:r>
            <a:endParaRPr lang="en-US" sz="1050" dirty="0"/>
          </a:p>
        </p:txBody>
      </p:sp>
      <p:sp>
        <p:nvSpPr>
          <p:cNvPr id="6" name="Shape 4"/>
          <p:cNvSpPr/>
          <p:nvPr/>
        </p:nvSpPr>
        <p:spPr>
          <a:xfrm>
            <a:off x="4663440" y="1188720"/>
            <a:ext cx="4023360" cy="1051560"/>
          </a:xfrm>
          <a:prstGeom prst="roundRect">
            <a:avLst>
              <a:gd name="adj" fmla="val 6957"/>
            </a:avLst>
          </a:prstGeom>
          <a:solidFill>
            <a:srgbClr val="FBEFEA"/>
          </a:solidFill>
          <a:ln w="12700">
            <a:solidFill>
              <a:srgbClr val="FBEFEA"/>
            </a:solidFill>
            <a:prstDash val="solid"/>
          </a:ln>
        </p:spPr>
      </p:sp>
      <p:sp>
        <p:nvSpPr>
          <p:cNvPr id="7" name="Text 5"/>
          <p:cNvSpPr txBox="1"/>
          <p:nvPr/>
        </p:nvSpPr>
        <p:spPr>
          <a:xfrm>
            <a:off x="4800600" y="1261872"/>
            <a:ext cx="3749040" cy="256032"/>
          </a:xfrm>
          <a:prstGeom prst="rect">
            <a:avLst/>
          </a:prstGeom>
          <a:noFill/>
          <a:ln/>
        </p:spPr>
        <p:txBody>
          <a:bodyPr wrap="square" lIns="0" tIns="0" rIns="0" bIns="0" rtlCol="0" anchor="ctr"/>
          <a:lstStyle/>
          <a:p>
            <a:pPr indent="0" marL="0">
              <a:buNone/>
            </a:pPr>
            <a:r>
              <a:rPr lang="en-US" sz="1250" b="1" dirty="0">
                <a:solidFill>
                  <a:srgbClr val="90113E"/>
                </a:solidFill>
                <a:latin typeface="Calibri" pitchFamily="34" charset="0"/>
                <a:ea typeface="Calibri" pitchFamily="34" charset="-122"/>
                <a:cs typeface="Calibri" pitchFamily="34" charset="-120"/>
              </a:rPr>
              <a:t>What if we recover only a quarter?</a:t>
            </a:r>
            <a:endParaRPr lang="en-US" sz="1250" dirty="0"/>
          </a:p>
        </p:txBody>
      </p:sp>
      <p:sp>
        <p:nvSpPr>
          <p:cNvPr id="8" name="Text 6"/>
          <p:cNvSpPr txBox="1"/>
          <p:nvPr/>
        </p:nvSpPr>
        <p:spPr>
          <a:xfrm>
            <a:off x="4800600" y="1554480"/>
            <a:ext cx="3749040" cy="640080"/>
          </a:xfrm>
          <a:prstGeom prst="rect">
            <a:avLst/>
          </a:prstGeom>
          <a:noFill/>
          <a:ln/>
        </p:spPr>
        <p:txBody>
          <a:bodyPr wrap="square" lIns="0" tIns="0" rIns="0" bIns="0" rtlCol="0" anchor="t"/>
          <a:lstStyle/>
          <a:p>
            <a:pPr indent="0" marL="0">
              <a:buNone/>
            </a:pPr>
            <a:r>
              <a:rPr lang="en-US" sz="1050" dirty="0">
                <a:solidFill>
                  <a:srgbClr val="1C1C1C"/>
                </a:solidFill>
                <a:latin typeface="Calibri" pitchFamily="34" charset="0"/>
                <a:ea typeface="Calibri" pitchFamily="34" charset="-122"/>
                <a:cs typeface="Calibri" pitchFamily="34" charset="-120"/>
              </a:rPr>
              <a:t>Annual savings are KES 7.75M, ROI is 94% and payback is 18.6 months. Still positive.</a:t>
            </a:r>
            <a:endParaRPr lang="en-US" sz="1050" dirty="0"/>
          </a:p>
        </p:txBody>
      </p:sp>
      <p:sp>
        <p:nvSpPr>
          <p:cNvPr id="9" name="Shape 7"/>
          <p:cNvSpPr/>
          <p:nvPr/>
        </p:nvSpPr>
        <p:spPr>
          <a:xfrm>
            <a:off x="457200" y="2331720"/>
            <a:ext cx="4023360" cy="1051560"/>
          </a:xfrm>
          <a:prstGeom prst="roundRect">
            <a:avLst>
              <a:gd name="adj" fmla="val 6957"/>
            </a:avLst>
          </a:prstGeom>
          <a:solidFill>
            <a:srgbClr val="FBEFEA"/>
          </a:solidFill>
          <a:ln w="12700">
            <a:solidFill>
              <a:srgbClr val="FBEFEA"/>
            </a:solidFill>
            <a:prstDash val="solid"/>
          </a:ln>
        </p:spPr>
      </p:sp>
      <p:sp>
        <p:nvSpPr>
          <p:cNvPr id="10" name="Text 8"/>
          <p:cNvSpPr txBox="1"/>
          <p:nvPr/>
        </p:nvSpPr>
        <p:spPr>
          <a:xfrm>
            <a:off x="594360" y="2404872"/>
            <a:ext cx="3749040" cy="256032"/>
          </a:xfrm>
          <a:prstGeom prst="rect">
            <a:avLst/>
          </a:prstGeom>
          <a:noFill/>
          <a:ln/>
        </p:spPr>
        <p:txBody>
          <a:bodyPr wrap="square" lIns="0" tIns="0" rIns="0" bIns="0" rtlCol="0" anchor="ctr"/>
          <a:lstStyle/>
          <a:p>
            <a:pPr indent="0" marL="0">
              <a:buNone/>
            </a:pPr>
            <a:r>
              <a:rPr lang="en-US" sz="1250" b="1" dirty="0">
                <a:solidFill>
                  <a:srgbClr val="90113E"/>
                </a:solidFill>
                <a:latin typeface="Calibri" pitchFamily="34" charset="0"/>
                <a:ea typeface="Calibri" pitchFamily="34" charset="-122"/>
                <a:cs typeface="Calibri" pitchFamily="34" charset="-120"/>
              </a:rPr>
              <a:t>Is the SAP link live?</a:t>
            </a:r>
            <a:endParaRPr lang="en-US" sz="1250" dirty="0"/>
          </a:p>
        </p:txBody>
      </p:sp>
      <p:sp>
        <p:nvSpPr>
          <p:cNvPr id="11" name="Text 9"/>
          <p:cNvSpPr txBox="1"/>
          <p:nvPr/>
        </p:nvSpPr>
        <p:spPr>
          <a:xfrm>
            <a:off x="594360" y="2697480"/>
            <a:ext cx="3749040" cy="640080"/>
          </a:xfrm>
          <a:prstGeom prst="rect">
            <a:avLst/>
          </a:prstGeom>
          <a:noFill/>
          <a:ln/>
        </p:spPr>
        <p:txBody>
          <a:bodyPr wrap="square" lIns="0" tIns="0" rIns="0" bIns="0" rtlCol="0" anchor="t"/>
          <a:lstStyle/>
          <a:p>
            <a:pPr indent="0" marL="0">
              <a:buNone/>
            </a:pPr>
            <a:r>
              <a:rPr lang="en-US" sz="1050" dirty="0">
                <a:solidFill>
                  <a:srgbClr val="1C1C1C"/>
                </a:solidFill>
                <a:latin typeface="Calibri" pitchFamily="34" charset="0"/>
                <a:ea typeface="Calibri" pitchFamily="34" charset="-122"/>
                <a:cs typeface="Calibri" pitchFamily="34" charset="-120"/>
              </a:rPr>
              <a:t>Not yet. The demo produces SAP-ready postings with a reference number. A live connection is scoped with KPC IT and priced by quote.</a:t>
            </a:r>
            <a:endParaRPr lang="en-US" sz="1050" dirty="0"/>
          </a:p>
        </p:txBody>
      </p:sp>
      <p:sp>
        <p:nvSpPr>
          <p:cNvPr id="12" name="Shape 10"/>
          <p:cNvSpPr/>
          <p:nvPr/>
        </p:nvSpPr>
        <p:spPr>
          <a:xfrm>
            <a:off x="4663440" y="2331720"/>
            <a:ext cx="4023360" cy="1051560"/>
          </a:xfrm>
          <a:prstGeom prst="roundRect">
            <a:avLst>
              <a:gd name="adj" fmla="val 6957"/>
            </a:avLst>
          </a:prstGeom>
          <a:solidFill>
            <a:srgbClr val="FBEFEA"/>
          </a:solidFill>
          <a:ln w="12700">
            <a:solidFill>
              <a:srgbClr val="FBEFEA"/>
            </a:solidFill>
            <a:prstDash val="solid"/>
          </a:ln>
        </p:spPr>
      </p:sp>
      <p:sp>
        <p:nvSpPr>
          <p:cNvPr id="13" name="Text 11"/>
          <p:cNvSpPr txBox="1"/>
          <p:nvPr/>
        </p:nvSpPr>
        <p:spPr>
          <a:xfrm>
            <a:off x="4800600" y="2404872"/>
            <a:ext cx="3749040" cy="256032"/>
          </a:xfrm>
          <a:prstGeom prst="rect">
            <a:avLst/>
          </a:prstGeom>
          <a:noFill/>
          <a:ln/>
        </p:spPr>
        <p:txBody>
          <a:bodyPr wrap="square" lIns="0" tIns="0" rIns="0" bIns="0" rtlCol="0" anchor="ctr"/>
          <a:lstStyle/>
          <a:p>
            <a:pPr indent="0" marL="0">
              <a:buNone/>
            </a:pPr>
            <a:r>
              <a:rPr lang="en-US" sz="1250" b="1" dirty="0">
                <a:solidFill>
                  <a:srgbClr val="90113E"/>
                </a:solidFill>
                <a:latin typeface="Calibri" pitchFamily="34" charset="0"/>
                <a:ea typeface="Calibri" pitchFamily="34" charset="-122"/>
                <a:cs typeface="Calibri" pitchFamily="34" charset="-120"/>
              </a:rPr>
              <a:t>Can it scale past 5 depots?</a:t>
            </a:r>
            <a:endParaRPr lang="en-US" sz="1250" dirty="0"/>
          </a:p>
        </p:txBody>
      </p:sp>
      <p:sp>
        <p:nvSpPr>
          <p:cNvPr id="14" name="Text 12"/>
          <p:cNvSpPr txBox="1"/>
          <p:nvPr/>
        </p:nvSpPr>
        <p:spPr>
          <a:xfrm>
            <a:off x="4800600" y="2697480"/>
            <a:ext cx="3749040" cy="640080"/>
          </a:xfrm>
          <a:prstGeom prst="rect">
            <a:avLst/>
          </a:prstGeom>
          <a:noFill/>
          <a:ln/>
        </p:spPr>
        <p:txBody>
          <a:bodyPr wrap="square" lIns="0" tIns="0" rIns="0" bIns="0" rtlCol="0" anchor="t"/>
          <a:lstStyle/>
          <a:p>
            <a:pPr indent="0" marL="0">
              <a:buNone/>
            </a:pPr>
            <a:r>
              <a:rPr lang="en-US" sz="1050" dirty="0">
                <a:solidFill>
                  <a:srgbClr val="1C1C1C"/>
                </a:solidFill>
                <a:latin typeface="Calibri" pitchFamily="34" charset="0"/>
                <a:ea typeface="Calibri" pitchFamily="34" charset="-122"/>
                <a:cs typeface="Calibri" pitchFamily="34" charset="-120"/>
              </a:rPr>
              <a:t>The same engine runs all 5 terminals in the demo, and a new depot is configuration, not a rebuild. Phase 2 adds 3 depots and 40+ customers.</a:t>
            </a:r>
            <a:endParaRPr lang="en-US" sz="1050" dirty="0"/>
          </a:p>
        </p:txBody>
      </p:sp>
      <p:sp>
        <p:nvSpPr>
          <p:cNvPr id="15" name="Shape 13"/>
          <p:cNvSpPr/>
          <p:nvPr/>
        </p:nvSpPr>
        <p:spPr>
          <a:xfrm>
            <a:off x="457200" y="3474720"/>
            <a:ext cx="4023360" cy="1051560"/>
          </a:xfrm>
          <a:prstGeom prst="roundRect">
            <a:avLst>
              <a:gd name="adj" fmla="val 6957"/>
            </a:avLst>
          </a:prstGeom>
          <a:solidFill>
            <a:srgbClr val="FBEFEA"/>
          </a:solidFill>
          <a:ln w="12700">
            <a:solidFill>
              <a:srgbClr val="FBEFEA"/>
            </a:solidFill>
            <a:prstDash val="solid"/>
          </a:ln>
        </p:spPr>
      </p:sp>
      <p:sp>
        <p:nvSpPr>
          <p:cNvPr id="16" name="Text 14"/>
          <p:cNvSpPr txBox="1"/>
          <p:nvPr/>
        </p:nvSpPr>
        <p:spPr>
          <a:xfrm>
            <a:off x="594360" y="3547872"/>
            <a:ext cx="3749040" cy="256032"/>
          </a:xfrm>
          <a:prstGeom prst="rect">
            <a:avLst/>
          </a:prstGeom>
          <a:noFill/>
          <a:ln/>
        </p:spPr>
        <p:txBody>
          <a:bodyPr wrap="square" lIns="0" tIns="0" rIns="0" bIns="0" rtlCol="0" anchor="ctr"/>
          <a:lstStyle/>
          <a:p>
            <a:pPr indent="0" marL="0">
              <a:buNone/>
            </a:pPr>
            <a:r>
              <a:rPr lang="en-US" sz="1250" b="1" dirty="0">
                <a:solidFill>
                  <a:srgbClr val="90113E"/>
                </a:solidFill>
                <a:latin typeface="Calibri" pitchFamily="34" charset="0"/>
                <a:ea typeface="Calibri" pitchFamily="34" charset="-122"/>
                <a:cs typeface="Calibri" pitchFamily="34" charset="-120"/>
              </a:rPr>
              <a:t>What if customers dispute charges?</a:t>
            </a:r>
            <a:endParaRPr lang="en-US" sz="1250" dirty="0"/>
          </a:p>
        </p:txBody>
      </p:sp>
      <p:sp>
        <p:nvSpPr>
          <p:cNvPr id="17" name="Text 15"/>
          <p:cNvSpPr txBox="1"/>
          <p:nvPr/>
        </p:nvSpPr>
        <p:spPr>
          <a:xfrm>
            <a:off x="594360" y="3840480"/>
            <a:ext cx="3749040" cy="640080"/>
          </a:xfrm>
          <a:prstGeom prst="rect">
            <a:avLst/>
          </a:prstGeom>
          <a:noFill/>
          <a:ln/>
        </p:spPr>
        <p:txBody>
          <a:bodyPr wrap="square" lIns="0" tIns="0" rIns="0" bIns="0" rtlCol="0" anchor="t"/>
          <a:lstStyle/>
          <a:p>
            <a:pPr indent="0" marL="0">
              <a:buNone/>
            </a:pPr>
            <a:r>
              <a:rPr lang="en-US" sz="1050" dirty="0">
                <a:solidFill>
                  <a:srgbClr val="1C1C1C"/>
                </a:solidFill>
                <a:latin typeface="Calibri" pitchFamily="34" charset="0"/>
                <a:ea typeface="Calibri" pitchFamily="34" charset="-122"/>
                <a:cs typeface="Calibri" pitchFamily="34" charset="-120"/>
              </a:rPr>
              <a:t>Every charge keeps an audit signature and its full record, so disputes are settled with evidence. Unusual charges get human review first.</a:t>
            </a:r>
            <a:endParaRPr lang="en-US" sz="1050" dirty="0"/>
          </a:p>
        </p:txBody>
      </p:sp>
      <p:sp>
        <p:nvSpPr>
          <p:cNvPr id="18" name="Shape 16"/>
          <p:cNvSpPr/>
          <p:nvPr/>
        </p:nvSpPr>
        <p:spPr>
          <a:xfrm>
            <a:off x="4663440" y="3474720"/>
            <a:ext cx="4023360" cy="1051560"/>
          </a:xfrm>
          <a:prstGeom prst="roundRect">
            <a:avLst>
              <a:gd name="adj" fmla="val 6957"/>
            </a:avLst>
          </a:prstGeom>
          <a:solidFill>
            <a:srgbClr val="FBEFEA"/>
          </a:solidFill>
          <a:ln w="12700">
            <a:solidFill>
              <a:srgbClr val="FBEFEA"/>
            </a:solidFill>
            <a:prstDash val="solid"/>
          </a:ln>
        </p:spPr>
      </p:sp>
      <p:sp>
        <p:nvSpPr>
          <p:cNvPr id="19" name="Text 17"/>
          <p:cNvSpPr txBox="1"/>
          <p:nvPr/>
        </p:nvSpPr>
        <p:spPr>
          <a:xfrm>
            <a:off x="4800600" y="3547872"/>
            <a:ext cx="3749040" cy="256032"/>
          </a:xfrm>
          <a:prstGeom prst="rect">
            <a:avLst/>
          </a:prstGeom>
          <a:noFill/>
          <a:ln/>
        </p:spPr>
        <p:txBody>
          <a:bodyPr wrap="square" lIns="0" tIns="0" rIns="0" bIns="0" rtlCol="0" anchor="ctr"/>
          <a:lstStyle/>
          <a:p>
            <a:pPr indent="0" marL="0">
              <a:buNone/>
            </a:pPr>
            <a:r>
              <a:rPr lang="en-US" sz="1250" b="1" dirty="0">
                <a:solidFill>
                  <a:srgbClr val="90113E"/>
                </a:solidFill>
                <a:latin typeface="Calibri" pitchFamily="34" charset="0"/>
                <a:ea typeface="Calibri" pitchFamily="34" charset="-122"/>
                <a:cs typeface="Calibri" pitchFamily="34" charset="-120"/>
              </a:rPr>
              <a:t>What if the data feeds fail?</a:t>
            </a:r>
            <a:endParaRPr lang="en-US" sz="1250" dirty="0"/>
          </a:p>
        </p:txBody>
      </p:sp>
      <p:sp>
        <p:nvSpPr>
          <p:cNvPr id="20" name="Text 18"/>
          <p:cNvSpPr txBox="1"/>
          <p:nvPr/>
        </p:nvSpPr>
        <p:spPr>
          <a:xfrm>
            <a:off x="4800600" y="3840480"/>
            <a:ext cx="3749040" cy="640080"/>
          </a:xfrm>
          <a:prstGeom prst="rect">
            <a:avLst/>
          </a:prstGeom>
          <a:noFill/>
          <a:ln/>
        </p:spPr>
        <p:txBody>
          <a:bodyPr wrap="square" lIns="0" tIns="0" rIns="0" bIns="0" rtlCol="0" anchor="t"/>
          <a:lstStyle/>
          <a:p>
            <a:pPr indent="0" marL="0">
              <a:buNone/>
            </a:pPr>
            <a:r>
              <a:rPr lang="en-US" sz="1050" dirty="0">
                <a:solidFill>
                  <a:srgbClr val="1C1C1C"/>
                </a:solidFill>
                <a:latin typeface="Calibri" pitchFamily="34" charset="0"/>
                <a:ea typeface="Calibri" pitchFamily="34" charset="-122"/>
                <a:cs typeface="Calibri" pitchFamily="34" charset="-120"/>
              </a:rPr>
              <a:t>Incomplete records route to a person instead of billing automatically, and we roll out one depot at a time to catch problems early.</a:t>
            </a:r>
            <a:endParaRPr lang="en-US" sz="1050" dirty="0"/>
          </a:p>
        </p:txBody>
      </p:sp>
      <p:sp>
        <p:nvSpPr>
          <p:cNvPr id="21" name="Text 19"/>
          <p:cNvSpPr txBox="1"/>
          <p:nvPr/>
        </p:nvSpPr>
        <p:spPr>
          <a:xfrm>
            <a:off x="457200" y="4828032"/>
            <a:ext cx="5486400" cy="201168"/>
          </a:xfrm>
          <a:prstGeom prst="rect">
            <a:avLst/>
          </a:prstGeom>
          <a:noFill/>
          <a:ln/>
        </p:spPr>
        <p:txBody>
          <a:bodyPr wrap="square" lIns="0" tIns="0" rIns="0" bIns="0" rtlCol="0" anchor="ctr"/>
          <a:lstStyle/>
          <a:p>
            <a:pPr indent="0" marL="0">
              <a:buNone/>
            </a:pPr>
            <a:r>
              <a:rPr lang="en-US" sz="900" dirty="0">
                <a:solidFill>
                  <a:srgbClr val="8C8C8C"/>
                </a:solidFill>
                <a:latin typeface="Calibri" pitchFamily="34" charset="0"/>
                <a:ea typeface="Calibri" pitchFamily="34" charset="-122"/>
                <a:cs typeface="Calibri" pitchFamily="34" charset="-120"/>
              </a:rPr>
              <a:t>KPC Revenue Assurance  |  Board Strategy Pitch</a:t>
            </a:r>
            <a:endParaRPr lang="en-US" sz="900" dirty="0"/>
          </a:p>
        </p:txBody>
      </p:sp>
      <p:sp>
        <p:nvSpPr>
          <p:cNvPr id="22" name="Text 20"/>
          <p:cNvSpPr txBox="1"/>
          <p:nvPr/>
        </p:nvSpPr>
        <p:spPr>
          <a:xfrm>
            <a:off x="8229600" y="4828032"/>
            <a:ext cx="457200" cy="201168"/>
          </a:xfrm>
          <a:prstGeom prst="rect">
            <a:avLst/>
          </a:prstGeom>
          <a:noFill/>
          <a:ln/>
        </p:spPr>
        <p:txBody>
          <a:bodyPr wrap="square" lIns="0" tIns="0" rIns="0" bIns="0" rtlCol="0" anchor="ctr"/>
          <a:lstStyle/>
          <a:p>
            <a:pPr algn="r" indent="0" marL="0">
              <a:buNone/>
            </a:pPr>
            <a:r>
              <a:rPr lang="en-US" sz="900" dirty="0">
                <a:solidFill>
                  <a:srgbClr val="8C8C8C"/>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8229600" cy="731520"/>
          </a:xfrm>
          <a:prstGeom prst="rect">
            <a:avLst/>
          </a:prstGeom>
          <a:noFill/>
          <a:ln/>
        </p:spPr>
        <p:txBody>
          <a:bodyPr wrap="square" lIns="0" tIns="0" rIns="0" bIns="0" rtlCol="0" anchor="t"/>
          <a:lstStyle/>
          <a:p>
            <a:pPr indent="0" marL="0">
              <a:buNone/>
            </a:pPr>
            <a:r>
              <a:rPr lang="en-US" sz="3000" b="1" dirty="0">
                <a:solidFill>
                  <a:srgbClr val="1C1C1C"/>
                </a:solidFill>
                <a:latin typeface="Calibri" pitchFamily="34" charset="0"/>
                <a:ea typeface="Calibri" pitchFamily="34" charset="-122"/>
                <a:cs typeface="Calibri" pitchFamily="34" charset="-120"/>
              </a:rPr>
              <a:t>Backup: financial model and assumptions</a:t>
            </a:r>
            <a:endParaRPr lang="en-US" sz="3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377440"/>
                <a:gridCol w="1097280"/>
                <a:gridCol w="1188720"/>
                <a:gridCol w="3566160"/>
              </a:tblGrid>
              <a:tr h="283464">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KES millions</a:t>
                      </a:r>
                      <a:endParaRPr lang="en-US" sz="11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90113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Base</a:t>
                      </a:r>
                      <a:endParaRPr lang="en-US" sz="11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90113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Cautious</a:t>
                      </a:r>
                      <a:endParaRPr lang="en-US" sz="11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90113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Where it comes from</a:t>
                      </a:r>
                      <a:endParaRPr lang="en-US" sz="11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90113E"/>
                    </a:solidFill>
                  </a:tcPr>
                </a:tc>
              </a:tr>
              <a:tr h="283464">
                <a:tc>
                  <a:txBody>
                    <a:bodyPr/>
                    <a:lstStyle/>
                    <a:p>
                      <a:pPr indent="0" marL="0">
                        <a:buNone/>
                      </a:pPr>
                      <a:r>
                        <a:rPr lang="en-US" sz="1050" dirty="0">
                          <a:solidFill>
                            <a:srgbClr val="1C1C1C"/>
                          </a:solidFill>
                          <a:latin typeface="Calibri" pitchFamily="34" charset="0"/>
                          <a:ea typeface="Calibri" pitchFamily="34" charset="-122"/>
                          <a:cs typeface="Calibri" pitchFamily="34" charset="-120"/>
                        </a:rPr>
                        <a:t>Missed fees per year</a:t>
                      </a:r>
                      <a:endParaRPr lang="en-US" sz="105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050" dirty="0">
                          <a:solidFill>
                            <a:srgbClr val="1C1C1C"/>
                          </a:solidFill>
                          <a:latin typeface="Calibri" pitchFamily="34" charset="0"/>
                          <a:ea typeface="Calibri" pitchFamily="34" charset="-122"/>
                          <a:cs typeface="Calibri" pitchFamily="34" charset="-120"/>
                        </a:rPr>
                        <a:t>45.00</a:t>
                      </a:r>
                      <a:endParaRPr lang="en-US" sz="105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050" dirty="0">
                          <a:solidFill>
                            <a:srgbClr val="1C1C1C"/>
                          </a:solidFill>
                          <a:latin typeface="Calibri" pitchFamily="34" charset="0"/>
                          <a:ea typeface="Calibri" pitchFamily="34" charset="-122"/>
                          <a:cs typeface="Calibri" pitchFamily="34" charset="-120"/>
                        </a:rPr>
                        <a:t>45.00</a:t>
                      </a:r>
                      <a:endParaRPr lang="en-US" sz="105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000" dirty="0">
                          <a:solidFill>
                            <a:srgbClr val="5A5A5A"/>
                          </a:solidFill>
                          <a:latin typeface="Calibri" pitchFamily="34" charset="0"/>
                          <a:ea typeface="Calibri" pitchFamily="34" charset="-122"/>
                          <a:cs typeface="Calibri" pitchFamily="34" charset="-120"/>
                        </a:rPr>
                        <a:t>Project estimate, modelled, not audited</a:t>
                      </a:r>
                      <a:endParaRPr lang="en-US" sz="10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83464">
                <a:tc>
                  <a:txBody>
                    <a:bodyPr/>
                    <a:lstStyle/>
                    <a:p>
                      <a:pPr indent="0" marL="0">
                        <a:buNone/>
                      </a:pPr>
                      <a:r>
                        <a:rPr lang="en-US" sz="1050" dirty="0">
                          <a:solidFill>
                            <a:srgbClr val="1C1C1C"/>
                          </a:solidFill>
                          <a:latin typeface="Calibri" pitchFamily="34" charset="0"/>
                          <a:ea typeface="Calibri" pitchFamily="34" charset="-122"/>
                          <a:cs typeface="Calibri" pitchFamily="34" charset="-120"/>
                        </a:rPr>
                        <a:t>Share recovered</a:t>
                      </a:r>
                      <a:endParaRPr lang="en-US" sz="105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050" dirty="0">
                          <a:solidFill>
                            <a:srgbClr val="1C1C1C"/>
                          </a:solidFill>
                          <a:latin typeface="Calibri" pitchFamily="34" charset="0"/>
                          <a:ea typeface="Calibri" pitchFamily="34" charset="-122"/>
                          <a:cs typeface="Calibri" pitchFamily="34" charset="-120"/>
                        </a:rPr>
                        <a:t>50%</a:t>
                      </a:r>
                      <a:endParaRPr lang="en-US" sz="105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050" dirty="0">
                          <a:solidFill>
                            <a:srgbClr val="1C1C1C"/>
                          </a:solidFill>
                          <a:latin typeface="Calibri" pitchFamily="34" charset="0"/>
                          <a:ea typeface="Calibri" pitchFamily="34" charset="-122"/>
                          <a:cs typeface="Calibri" pitchFamily="34" charset="-120"/>
                        </a:rPr>
                        <a:t>25%</a:t>
                      </a:r>
                      <a:endParaRPr lang="en-US" sz="105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000" dirty="0">
                          <a:solidFill>
                            <a:srgbClr val="5A5A5A"/>
                          </a:solidFill>
                          <a:latin typeface="Calibri" pitchFamily="34" charset="0"/>
                          <a:ea typeface="Calibri" pitchFamily="34" charset="-122"/>
                          <a:cs typeface="Calibri" pitchFamily="34" charset="-120"/>
                        </a:rPr>
                        <a:t>Assumption (demo showed 94.8% capture)</a:t>
                      </a:r>
                      <a:endParaRPr lang="en-US" sz="10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83464">
                <a:tc>
                  <a:txBody>
                    <a:bodyPr/>
                    <a:lstStyle/>
                    <a:p>
                      <a:pPr indent="0" marL="0">
                        <a:buNone/>
                      </a:pPr>
                      <a:r>
                        <a:rPr lang="en-US" sz="1050" dirty="0">
                          <a:solidFill>
                            <a:srgbClr val="1C1C1C"/>
                          </a:solidFill>
                          <a:latin typeface="Calibri" pitchFamily="34" charset="0"/>
                          <a:ea typeface="Calibri" pitchFamily="34" charset="-122"/>
                          <a:cs typeface="Calibri" pitchFamily="34" charset="-120"/>
                        </a:rPr>
                        <a:t>Annual savings before costs</a:t>
                      </a:r>
                      <a:endParaRPr lang="en-US" sz="105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050" dirty="0">
                          <a:solidFill>
                            <a:srgbClr val="1C1C1C"/>
                          </a:solidFill>
                          <a:latin typeface="Calibri" pitchFamily="34" charset="0"/>
                          <a:ea typeface="Calibri" pitchFamily="34" charset="-122"/>
                          <a:cs typeface="Calibri" pitchFamily="34" charset="-120"/>
                        </a:rPr>
                        <a:t>22.50</a:t>
                      </a:r>
                      <a:endParaRPr lang="en-US" sz="105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050" dirty="0">
                          <a:solidFill>
                            <a:srgbClr val="1C1C1C"/>
                          </a:solidFill>
                          <a:latin typeface="Calibri" pitchFamily="34" charset="0"/>
                          <a:ea typeface="Calibri" pitchFamily="34" charset="-122"/>
                          <a:cs typeface="Calibri" pitchFamily="34" charset="-120"/>
                        </a:rPr>
                        <a:t>11.25</a:t>
                      </a:r>
                      <a:endParaRPr lang="en-US" sz="105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000" dirty="0">
                          <a:solidFill>
                            <a:srgbClr val="5A5A5A"/>
                          </a:solidFill>
                          <a:latin typeface="Calibri" pitchFamily="34" charset="0"/>
                          <a:ea typeface="Calibri" pitchFamily="34" charset="-122"/>
                          <a:cs typeface="Calibri" pitchFamily="34" charset="-120"/>
                        </a:rPr>
                        <a:t>45 × share recovered</a:t>
                      </a:r>
                      <a:endParaRPr lang="en-US" sz="10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83464">
                <a:tc>
                  <a:txBody>
                    <a:bodyPr/>
                    <a:lstStyle/>
                    <a:p>
                      <a:pPr indent="0" marL="0">
                        <a:buNone/>
                      </a:pPr>
                      <a:r>
                        <a:rPr lang="en-US" sz="1050" dirty="0">
                          <a:solidFill>
                            <a:srgbClr val="1C1C1C"/>
                          </a:solidFill>
                          <a:latin typeface="Calibri" pitchFamily="34" charset="0"/>
                          <a:ea typeface="Calibri" pitchFamily="34" charset="-122"/>
                          <a:cs typeface="Calibri" pitchFamily="34" charset="-120"/>
                        </a:rPr>
                        <a:t>Running cost per year</a:t>
                      </a:r>
                      <a:endParaRPr lang="en-US" sz="105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050" dirty="0">
                          <a:solidFill>
                            <a:srgbClr val="1C1C1C"/>
                          </a:solidFill>
                          <a:latin typeface="Calibri" pitchFamily="34" charset="0"/>
                          <a:ea typeface="Calibri" pitchFamily="34" charset="-122"/>
                          <a:cs typeface="Calibri" pitchFamily="34" charset="-120"/>
                        </a:rPr>
                        <a:t>3.50</a:t>
                      </a:r>
                      <a:endParaRPr lang="en-US" sz="105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050" dirty="0">
                          <a:solidFill>
                            <a:srgbClr val="1C1C1C"/>
                          </a:solidFill>
                          <a:latin typeface="Calibri" pitchFamily="34" charset="0"/>
                          <a:ea typeface="Calibri" pitchFamily="34" charset="-122"/>
                          <a:cs typeface="Calibri" pitchFamily="34" charset="-120"/>
                        </a:rPr>
                        <a:t>3.50</a:t>
                      </a:r>
                      <a:endParaRPr lang="en-US" sz="105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000" dirty="0">
                          <a:solidFill>
                            <a:srgbClr val="5A5A5A"/>
                          </a:solidFill>
                          <a:latin typeface="Calibri" pitchFamily="34" charset="0"/>
                          <a:ea typeface="Calibri" pitchFamily="34" charset="-122"/>
                          <a:cs typeface="Calibri" pitchFamily="34" charset="-120"/>
                        </a:rPr>
                        <a:t>Assumption, Finance quote needed</a:t>
                      </a:r>
                      <a:endParaRPr lang="en-US" sz="10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83464">
                <a:tc>
                  <a:txBody>
                    <a:bodyPr/>
                    <a:lstStyle/>
                    <a:p>
                      <a:pPr indent="0" marL="0">
                        <a:buNone/>
                      </a:pPr>
                      <a:r>
                        <a:rPr lang="en-US" sz="1050" b="1" dirty="0">
                          <a:solidFill>
                            <a:srgbClr val="1C1C1C"/>
                          </a:solidFill>
                          <a:latin typeface="Calibri" pitchFamily="34" charset="0"/>
                          <a:ea typeface="Calibri" pitchFamily="34" charset="-122"/>
                          <a:cs typeface="Calibri" pitchFamily="34" charset="-120"/>
                        </a:rPr>
                        <a:t>Annual savings</a:t>
                      </a:r>
                      <a:endParaRPr lang="en-US" sz="105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050" b="1" dirty="0">
                          <a:solidFill>
                            <a:srgbClr val="1C1C1C"/>
                          </a:solidFill>
                          <a:latin typeface="Calibri" pitchFamily="34" charset="0"/>
                          <a:ea typeface="Calibri" pitchFamily="34" charset="-122"/>
                          <a:cs typeface="Calibri" pitchFamily="34" charset="-120"/>
                        </a:rPr>
                        <a:t>19.00</a:t>
                      </a:r>
                      <a:endParaRPr lang="en-US" sz="105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050" b="1" dirty="0">
                          <a:solidFill>
                            <a:srgbClr val="1C1C1C"/>
                          </a:solidFill>
                          <a:latin typeface="Calibri" pitchFamily="34" charset="0"/>
                          <a:ea typeface="Calibri" pitchFamily="34" charset="-122"/>
                          <a:cs typeface="Calibri" pitchFamily="34" charset="-120"/>
                        </a:rPr>
                        <a:t>7.75</a:t>
                      </a:r>
                      <a:endParaRPr lang="en-US" sz="105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000" dirty="0">
                          <a:solidFill>
                            <a:srgbClr val="5A5A5A"/>
                          </a:solidFill>
                          <a:latin typeface="Calibri" pitchFamily="34" charset="0"/>
                          <a:ea typeface="Calibri" pitchFamily="34" charset="-122"/>
                          <a:cs typeface="Calibri" pitchFamily="34" charset="-120"/>
                        </a:rPr>
                        <a:t>Savings before costs − running cost</a:t>
                      </a:r>
                      <a:endParaRPr lang="en-US" sz="10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83464">
                <a:tc>
                  <a:txBody>
                    <a:bodyPr/>
                    <a:lstStyle/>
                    <a:p>
                      <a:pPr indent="0" marL="0">
                        <a:buNone/>
                      </a:pPr>
                      <a:r>
                        <a:rPr lang="en-US" sz="1050" dirty="0">
                          <a:solidFill>
                            <a:srgbClr val="1C1C1C"/>
                          </a:solidFill>
                          <a:latin typeface="Calibri" pitchFamily="34" charset="0"/>
                          <a:ea typeface="Calibri" pitchFamily="34" charset="-122"/>
                          <a:cs typeface="Calibri" pitchFamily="34" charset="-120"/>
                        </a:rPr>
                        <a:t>One-time cost</a:t>
                      </a:r>
                      <a:endParaRPr lang="en-US" sz="105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050" dirty="0">
                          <a:solidFill>
                            <a:srgbClr val="1C1C1C"/>
                          </a:solidFill>
                          <a:latin typeface="Calibri" pitchFamily="34" charset="0"/>
                          <a:ea typeface="Calibri" pitchFamily="34" charset="-122"/>
                          <a:cs typeface="Calibri" pitchFamily="34" charset="-120"/>
                        </a:rPr>
                        <a:t>12.00</a:t>
                      </a:r>
                      <a:endParaRPr lang="en-US" sz="105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050" dirty="0">
                          <a:solidFill>
                            <a:srgbClr val="1C1C1C"/>
                          </a:solidFill>
                          <a:latin typeface="Calibri" pitchFamily="34" charset="0"/>
                          <a:ea typeface="Calibri" pitchFamily="34" charset="-122"/>
                          <a:cs typeface="Calibri" pitchFamily="34" charset="-120"/>
                        </a:rPr>
                        <a:t>12.00</a:t>
                      </a:r>
                      <a:endParaRPr lang="en-US" sz="105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000" dirty="0">
                          <a:solidFill>
                            <a:srgbClr val="5A5A5A"/>
                          </a:solidFill>
                          <a:latin typeface="Calibri" pitchFamily="34" charset="0"/>
                          <a:ea typeface="Calibri" pitchFamily="34" charset="-122"/>
                          <a:cs typeface="Calibri" pitchFamily="34" charset="-120"/>
                        </a:rPr>
                        <a:t>Assumption, Finance quote needed</a:t>
                      </a:r>
                      <a:endParaRPr lang="en-US" sz="10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83464">
                <a:tc>
                  <a:txBody>
                    <a:bodyPr/>
                    <a:lstStyle/>
                    <a:p>
                      <a:pPr indent="0" marL="0">
                        <a:buNone/>
                      </a:pPr>
                      <a:r>
                        <a:rPr lang="en-US" sz="1050" dirty="0">
                          <a:solidFill>
                            <a:srgbClr val="1C1C1C"/>
                          </a:solidFill>
                          <a:latin typeface="Calibri" pitchFamily="34" charset="0"/>
                          <a:ea typeface="Calibri" pitchFamily="34" charset="-122"/>
                          <a:cs typeface="Calibri" pitchFamily="34" charset="-120"/>
                        </a:rPr>
                        <a:t>3-year savings</a:t>
                      </a:r>
                      <a:endParaRPr lang="en-US" sz="105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050" dirty="0">
                          <a:solidFill>
                            <a:srgbClr val="1C1C1C"/>
                          </a:solidFill>
                          <a:latin typeface="Calibri" pitchFamily="34" charset="0"/>
                          <a:ea typeface="Calibri" pitchFamily="34" charset="-122"/>
                          <a:cs typeface="Calibri" pitchFamily="34" charset="-120"/>
                        </a:rPr>
                        <a:t>57.00</a:t>
                      </a:r>
                      <a:endParaRPr lang="en-US" sz="105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050" dirty="0">
                          <a:solidFill>
                            <a:srgbClr val="1C1C1C"/>
                          </a:solidFill>
                          <a:latin typeface="Calibri" pitchFamily="34" charset="0"/>
                          <a:ea typeface="Calibri" pitchFamily="34" charset="-122"/>
                          <a:cs typeface="Calibri" pitchFamily="34" charset="-120"/>
                        </a:rPr>
                        <a:t>23.25</a:t>
                      </a:r>
                      <a:endParaRPr lang="en-US" sz="105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000" dirty="0">
                          <a:solidFill>
                            <a:srgbClr val="5A5A5A"/>
                          </a:solidFill>
                          <a:latin typeface="Calibri" pitchFamily="34" charset="0"/>
                          <a:ea typeface="Calibri" pitchFamily="34" charset="-122"/>
                          <a:cs typeface="Calibri" pitchFamily="34" charset="-120"/>
                        </a:rPr>
                        <a:t>Annual savings × 3</a:t>
                      </a:r>
                      <a:endParaRPr lang="en-US" sz="10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83464">
                <a:tc>
                  <a:txBody>
                    <a:bodyPr/>
                    <a:lstStyle/>
                    <a:p>
                      <a:pPr indent="0" marL="0">
                        <a:buNone/>
                      </a:pPr>
                      <a:r>
                        <a:rPr lang="en-US" sz="1050" dirty="0">
                          <a:solidFill>
                            <a:srgbClr val="1C1C1C"/>
                          </a:solidFill>
                          <a:latin typeface="Calibri" pitchFamily="34" charset="0"/>
                          <a:ea typeface="Calibri" pitchFamily="34" charset="-122"/>
                          <a:cs typeface="Calibri" pitchFamily="34" charset="-120"/>
                        </a:rPr>
                        <a:t>3-year net gain</a:t>
                      </a:r>
                      <a:endParaRPr lang="en-US" sz="105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050" dirty="0">
                          <a:solidFill>
                            <a:srgbClr val="1C1C1C"/>
                          </a:solidFill>
                          <a:latin typeface="Calibri" pitchFamily="34" charset="0"/>
                          <a:ea typeface="Calibri" pitchFamily="34" charset="-122"/>
                          <a:cs typeface="Calibri" pitchFamily="34" charset="-120"/>
                        </a:rPr>
                        <a:t>45.00</a:t>
                      </a:r>
                      <a:endParaRPr lang="en-US" sz="105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050" dirty="0">
                          <a:solidFill>
                            <a:srgbClr val="1C1C1C"/>
                          </a:solidFill>
                          <a:latin typeface="Calibri" pitchFamily="34" charset="0"/>
                          <a:ea typeface="Calibri" pitchFamily="34" charset="-122"/>
                          <a:cs typeface="Calibri" pitchFamily="34" charset="-120"/>
                        </a:rPr>
                        <a:t>11.25</a:t>
                      </a:r>
                      <a:endParaRPr lang="en-US" sz="105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000" dirty="0">
                          <a:solidFill>
                            <a:srgbClr val="5A5A5A"/>
                          </a:solidFill>
                          <a:latin typeface="Calibri" pitchFamily="34" charset="0"/>
                          <a:ea typeface="Calibri" pitchFamily="34" charset="-122"/>
                          <a:cs typeface="Calibri" pitchFamily="34" charset="-120"/>
                        </a:rPr>
                        <a:t>3-year savings − one-time cost</a:t>
                      </a:r>
                      <a:endParaRPr lang="en-US" sz="10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83464">
                <a:tc>
                  <a:txBody>
                    <a:bodyPr/>
                    <a:lstStyle/>
                    <a:p>
                      <a:pPr indent="0" marL="0">
                        <a:buNone/>
                      </a:pPr>
                      <a:r>
                        <a:rPr lang="en-US" sz="1050" b="1" dirty="0">
                          <a:solidFill>
                            <a:srgbClr val="1C1C1C"/>
                          </a:solidFill>
                          <a:latin typeface="Calibri" pitchFamily="34" charset="0"/>
                          <a:ea typeface="Calibri" pitchFamily="34" charset="-122"/>
                          <a:cs typeface="Calibri" pitchFamily="34" charset="-120"/>
                        </a:rPr>
                        <a:t>ROI</a:t>
                      </a:r>
                      <a:endParaRPr lang="en-US" sz="105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050" b="1" dirty="0">
                          <a:solidFill>
                            <a:srgbClr val="1C1C1C"/>
                          </a:solidFill>
                          <a:latin typeface="Calibri" pitchFamily="34" charset="0"/>
                          <a:ea typeface="Calibri" pitchFamily="34" charset="-122"/>
                          <a:cs typeface="Calibri" pitchFamily="34" charset="-120"/>
                        </a:rPr>
                        <a:t>375%</a:t>
                      </a:r>
                      <a:endParaRPr lang="en-US" sz="105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050" b="1" dirty="0">
                          <a:solidFill>
                            <a:srgbClr val="1C1C1C"/>
                          </a:solidFill>
                          <a:latin typeface="Calibri" pitchFamily="34" charset="0"/>
                          <a:ea typeface="Calibri" pitchFamily="34" charset="-122"/>
                          <a:cs typeface="Calibri" pitchFamily="34" charset="-120"/>
                        </a:rPr>
                        <a:t>94%</a:t>
                      </a:r>
                      <a:endParaRPr lang="en-US" sz="105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000" dirty="0">
                          <a:solidFill>
                            <a:srgbClr val="5A5A5A"/>
                          </a:solidFill>
                          <a:latin typeface="Calibri" pitchFamily="34" charset="0"/>
                          <a:ea typeface="Calibri" pitchFamily="34" charset="-122"/>
                          <a:cs typeface="Calibri" pitchFamily="34" charset="-120"/>
                        </a:rPr>
                        <a:t>Net gain ÷ one-time cost × 100</a:t>
                      </a:r>
                      <a:endParaRPr lang="en-US" sz="10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83464">
                <a:tc>
                  <a:txBody>
                    <a:bodyPr/>
                    <a:lstStyle/>
                    <a:p>
                      <a:pPr indent="0" marL="0">
                        <a:buNone/>
                      </a:pPr>
                      <a:r>
                        <a:rPr lang="en-US" sz="1050" b="1" dirty="0">
                          <a:solidFill>
                            <a:srgbClr val="1C1C1C"/>
                          </a:solidFill>
                          <a:latin typeface="Calibri" pitchFamily="34" charset="0"/>
                          <a:ea typeface="Calibri" pitchFamily="34" charset="-122"/>
                          <a:cs typeface="Calibri" pitchFamily="34" charset="-120"/>
                        </a:rPr>
                        <a:t>Payback</a:t>
                      </a:r>
                      <a:endParaRPr lang="en-US" sz="105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050" b="1" dirty="0">
                          <a:solidFill>
                            <a:srgbClr val="1C1C1C"/>
                          </a:solidFill>
                          <a:latin typeface="Calibri" pitchFamily="34" charset="0"/>
                          <a:ea typeface="Calibri" pitchFamily="34" charset="-122"/>
                          <a:cs typeface="Calibri" pitchFamily="34" charset="-120"/>
                        </a:rPr>
                        <a:t>7.6 months</a:t>
                      </a:r>
                      <a:endParaRPr lang="en-US" sz="105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050" b="1" dirty="0">
                          <a:solidFill>
                            <a:srgbClr val="1C1C1C"/>
                          </a:solidFill>
                          <a:latin typeface="Calibri" pitchFamily="34" charset="0"/>
                          <a:ea typeface="Calibri" pitchFamily="34" charset="-122"/>
                          <a:cs typeface="Calibri" pitchFamily="34" charset="-120"/>
                        </a:rPr>
                        <a:t>18.6 months</a:t>
                      </a:r>
                      <a:endParaRPr lang="en-US" sz="105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000" dirty="0">
                          <a:solidFill>
                            <a:srgbClr val="5A5A5A"/>
                          </a:solidFill>
                          <a:latin typeface="Calibri" pitchFamily="34" charset="0"/>
                          <a:ea typeface="Calibri" pitchFamily="34" charset="-122"/>
                          <a:cs typeface="Calibri" pitchFamily="34" charset="-120"/>
                        </a:rPr>
                        <a:t>One-time cost ÷ annual savings × 12</a:t>
                      </a:r>
                      <a:endParaRPr lang="en-US" sz="10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
        <p:nvSpPr>
          <p:cNvPr id="4" name="Text 1"/>
          <p:cNvSpPr txBox="1"/>
          <p:nvPr/>
        </p:nvSpPr>
        <p:spPr>
          <a:xfrm>
            <a:off x="457200" y="4572000"/>
            <a:ext cx="8229600" cy="228600"/>
          </a:xfrm>
          <a:prstGeom prst="rect">
            <a:avLst/>
          </a:prstGeom>
          <a:noFill/>
          <a:ln/>
        </p:spPr>
        <p:txBody>
          <a:bodyPr wrap="square" lIns="0" tIns="0" rIns="0" bIns="0" rtlCol="0" anchor="ctr"/>
          <a:lstStyle/>
          <a:p>
            <a:pPr indent="0" marL="0">
              <a:buNone/>
            </a:pPr>
            <a:r>
              <a:rPr lang="en-US" sz="1000" dirty="0">
                <a:solidFill>
                  <a:srgbClr val="5A5A5A"/>
                </a:solidFill>
                <a:latin typeface="Calibri" pitchFamily="34" charset="0"/>
                <a:ea typeface="Calibri" pitchFamily="34" charset="-122"/>
                <a:cs typeface="Calibri" pitchFamily="34" charset="-120"/>
              </a:rPr>
              <a:t>Not counted, so real value may be higher: cash arriving in about 4 days instead of 45 to 60, and lower audit effort.</a:t>
            </a:r>
            <a:endParaRPr lang="en-US" sz="1000" dirty="0"/>
          </a:p>
        </p:txBody>
      </p:sp>
      <p:sp>
        <p:nvSpPr>
          <p:cNvPr id="5" name="Text 2"/>
          <p:cNvSpPr txBox="1"/>
          <p:nvPr/>
        </p:nvSpPr>
        <p:spPr>
          <a:xfrm>
            <a:off x="457200" y="4828032"/>
            <a:ext cx="5486400" cy="201168"/>
          </a:xfrm>
          <a:prstGeom prst="rect">
            <a:avLst/>
          </a:prstGeom>
          <a:noFill/>
          <a:ln/>
        </p:spPr>
        <p:txBody>
          <a:bodyPr wrap="square" lIns="0" tIns="0" rIns="0" bIns="0" rtlCol="0" anchor="ctr"/>
          <a:lstStyle/>
          <a:p>
            <a:pPr indent="0" marL="0">
              <a:buNone/>
            </a:pPr>
            <a:r>
              <a:rPr lang="en-US" sz="900" dirty="0">
                <a:solidFill>
                  <a:srgbClr val="8C8C8C"/>
                </a:solidFill>
                <a:latin typeface="Calibri" pitchFamily="34" charset="0"/>
                <a:ea typeface="Calibri" pitchFamily="34" charset="-122"/>
                <a:cs typeface="Calibri" pitchFamily="34" charset="-120"/>
              </a:rPr>
              <a:t>KPC Revenue Assurance  |  Board Strategy Pitch</a:t>
            </a:r>
            <a:endParaRPr lang="en-US" sz="900" dirty="0"/>
          </a:p>
        </p:txBody>
      </p:sp>
      <p:sp>
        <p:nvSpPr>
          <p:cNvPr id="6" name="Text 3"/>
          <p:cNvSpPr txBox="1"/>
          <p:nvPr/>
        </p:nvSpPr>
        <p:spPr>
          <a:xfrm>
            <a:off x="8229600" y="4828032"/>
            <a:ext cx="457200" cy="201168"/>
          </a:xfrm>
          <a:prstGeom prst="rect">
            <a:avLst/>
          </a:prstGeom>
          <a:noFill/>
          <a:ln/>
        </p:spPr>
        <p:txBody>
          <a:bodyPr wrap="square" lIns="0" tIns="0" rIns="0" bIns="0" rtlCol="0" anchor="ctr"/>
          <a:lstStyle/>
          <a:p>
            <a:pPr algn="r" indent="0" marL="0">
              <a:buNone/>
            </a:pPr>
            <a:r>
              <a:rPr lang="en-US" sz="900" dirty="0">
                <a:solidFill>
                  <a:srgbClr val="8C8C8C"/>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KPC Revenue Assurance: Board Strategy Pitch</dc:title>
  <dc:subject>PptxGenJS Presentation</dc:subject>
  <dc:creator>Brian Mugambi</dc:creator>
  <cp:lastModifiedBy>Brian Mugambi</cp:lastModifiedBy>
  <cp:revision>1</cp:revision>
  <dcterms:created xsi:type="dcterms:W3CDTF">2026-09-21T15:25:30Z</dcterms:created>
  <dcterms:modified xsi:type="dcterms:W3CDTF">2026-09-21T15:25:30Z</dcterms:modified>
</cp:coreProperties>
</file>